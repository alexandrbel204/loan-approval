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75" r:id="rId9"/>
    <p:sldId id="263" r:id="rId10"/>
    <p:sldId id="264" r:id="rId11"/>
    <p:sldId id="265" r:id="rId12"/>
    <p:sldId id="266" r:id="rId13"/>
    <p:sldId id="267" r:id="rId14"/>
    <p:sldId id="268" r:id="rId15"/>
    <p:sldId id="269" r:id="rId16"/>
    <p:sldId id="270" r:id="rId17"/>
    <p:sldId id="271" r:id="rId18"/>
    <p:sldId id="272" r:id="rId19"/>
    <p:sldId id="286" r:id="rId20"/>
    <p:sldId id="274" r:id="rId21"/>
    <p:sldId id="287" r:id="rId22"/>
    <p:sldId id="277" r:id="rId23"/>
    <p:sldId id="288" r:id="rId24"/>
    <p:sldId id="284" r:id="rId25"/>
    <p:sldId id="280" r:id="rId26"/>
    <p:sldId id="281" r:id="rId27"/>
    <p:sldId id="282" r:id="rId28"/>
    <p:sldId id="283" r:id="rId2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DEF9"/>
    <a:srgbClr val="FF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Средний стиль 2 — акцент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F1AB2-1976-4502-BF36-3FF5EA218861}" styleName="Средний стиль 4 — акцент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93A3B-A3E5-4AD6-A612-0A93DAB3EF1E}" type="datetimeFigureOut">
              <a:rPr lang="ru-RU" smtClean="0"/>
              <a:t>10.12.2025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C64AC5-8FB2-4FDA-B053-C4A9DCE14A2B}" type="slidenum">
              <a:rPr lang="ru-RU" smtClean="0"/>
              <a:t>‹#›</a:t>
            </a:fld>
            <a:endParaRPr lang="ru-RU"/>
          </a:p>
        </p:txBody>
      </p:sp>
    </p:spTree>
    <p:extLst>
      <p:ext uri="{BB962C8B-B14F-4D97-AF65-F5344CB8AC3E}">
        <p14:creationId xmlns:p14="http://schemas.microsoft.com/office/powerpoint/2010/main" val="1659621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lstStyle/>
          <a:p>
            <a:endParaRPr lang="ru-RU" dirty="0"/>
          </a:p>
        </p:txBody>
      </p:sp>
      <p:sp>
        <p:nvSpPr>
          <p:cNvPr id="4" name="Номер слайда 3"/>
          <p:cNvSpPr>
            <a:spLocks noGrp="1"/>
          </p:cNvSpPr>
          <p:nvPr>
            <p:ph type="sldNum" sz="quarter" idx="10"/>
          </p:nvPr>
        </p:nvSpPr>
        <p:spPr/>
        <p:txBody>
          <a:bodyPr/>
          <a:lstStyle/>
          <a:p>
            <a:fld id="{6EC64AC5-8FB2-4FDA-B053-C4A9DCE14A2B}" type="slidenum">
              <a:rPr lang="ru-RU" smtClean="0"/>
              <a:t>14</a:t>
            </a:fld>
            <a:endParaRPr lang="ru-RU"/>
          </a:p>
        </p:txBody>
      </p:sp>
    </p:spTree>
    <p:extLst>
      <p:ext uri="{BB962C8B-B14F-4D97-AF65-F5344CB8AC3E}">
        <p14:creationId xmlns:p14="http://schemas.microsoft.com/office/powerpoint/2010/main" val="17513429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ru-RU"/>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3936966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3254687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ru-RU"/>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1638087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79D243E5-D881-4612-896F-FC2A991866DB}" type="datetimeFigureOut">
              <a:rPr lang="ru-RU" smtClean="0"/>
              <a:t>10.12.2025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4146872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ru-RU"/>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79D243E5-D881-4612-896F-FC2A991866DB}" type="datetimeFigureOut">
              <a:rPr lang="ru-RU" smtClean="0"/>
              <a:t>10.12.2025</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3079928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79D243E5-D881-4612-896F-FC2A991866DB}" type="datetimeFigureOut">
              <a:rPr lang="ru-RU" smtClean="0"/>
              <a:t>10.12.2025</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487581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79D243E5-D881-4612-896F-FC2A991866DB}" type="datetimeFigureOut">
              <a:rPr lang="ru-RU" smtClean="0"/>
              <a:t>10.12.2025</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2366288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79D243E5-D881-4612-896F-FC2A991866DB}" type="datetimeFigureOut">
              <a:rPr lang="ru-RU" smtClean="0"/>
              <a:t>10.12.2025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4759805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ru-RU"/>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79D243E5-D881-4612-896F-FC2A991866DB}" type="datetimeFigureOut">
              <a:rPr lang="ru-RU" smtClean="0"/>
              <a:t>10.12.2025</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11600942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520999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2A71C7A-060F-4CF7-ADA6-B989B1E5EAC4}" type="slidenum">
              <a:rPr lang="ru-RU" smtClean="0"/>
              <a:t>‹#›</a:t>
            </a:fld>
            <a:endParaRPr lang="ru-RU"/>
          </a:p>
        </p:txBody>
      </p:sp>
    </p:spTree>
    <p:extLst>
      <p:ext uri="{BB962C8B-B14F-4D97-AF65-F5344CB8AC3E}">
        <p14:creationId xmlns:p14="http://schemas.microsoft.com/office/powerpoint/2010/main" val="112480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243E5-D881-4612-896F-FC2A991866DB}" type="datetimeFigureOut">
              <a:rPr lang="ru-RU" smtClean="0"/>
              <a:t>10.12.2025</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A71C7A-060F-4CF7-ADA6-B989B1E5EAC4}" type="slidenum">
              <a:rPr lang="ru-RU" smtClean="0"/>
              <a:t>‹#›</a:t>
            </a:fld>
            <a:endParaRPr lang="ru-RU"/>
          </a:p>
        </p:txBody>
      </p:sp>
    </p:spTree>
    <p:extLst>
      <p:ext uri="{BB962C8B-B14F-4D97-AF65-F5344CB8AC3E}">
        <p14:creationId xmlns:p14="http://schemas.microsoft.com/office/powerpoint/2010/main" val="12112737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hyperlink" Target="https://www.analyticsvidhya.com/blog/2021/10/an-introduction-to-random-forest-algorithm-for-beginners/" TargetMode="External"/><Relationship Id="rId3" Type="http://schemas.openxmlformats.org/officeDocument/2006/relationships/hyperlink" Target="https://blog.deepschool.ru/cv/vvedenie-v-diffuzionnye-modeli/" TargetMode="External"/><Relationship Id="rId7" Type="http://schemas.openxmlformats.org/officeDocument/2006/relationships/hyperlink" Target="https://medium.com/data-science/building-a-one-hot-encoding-layer-with-tensorflow-f907d686bf39" TargetMode="External"/><Relationship Id="rId2" Type="http://schemas.openxmlformats.org/officeDocument/2006/relationships/hyperlink" Target="https://habr.com/ru/articles/962176/" TargetMode="External"/><Relationship Id="rId1" Type="http://schemas.openxmlformats.org/officeDocument/2006/relationships/slideLayout" Target="../slideLayouts/slideLayout2.xml"/><Relationship Id="rId6" Type="http://schemas.openxmlformats.org/officeDocument/2006/relationships/hyperlink" Target="https://education.yandex.ru/handbook/ml/article/diffuzionnye-modeli" TargetMode="External"/><Relationship Id="rId11" Type="http://schemas.openxmlformats.org/officeDocument/2006/relationships/hyperlink" Target="https://www.geeksforgeeks.org/machine-learning/stacking-in-machine-learning/" TargetMode="External"/><Relationship Id="rId5" Type="http://schemas.openxmlformats.org/officeDocument/2006/relationships/hyperlink" Target="https://education.yandex.ru/handbook/ml/article/generativno-sostyazatelnye-seti-(gan)" TargetMode="External"/><Relationship Id="rId10" Type="http://schemas.openxmlformats.org/officeDocument/2006/relationships/hyperlink" Target="https://habr.com/ru/articles/545380/" TargetMode="External"/><Relationship Id="rId4" Type="http://schemas.openxmlformats.org/officeDocument/2006/relationships/hyperlink" Target="https://education.yandex.ru/handbook/ml/article/variational-autoencoder-(vae)" TargetMode="External"/><Relationship Id="rId9" Type="http://schemas.openxmlformats.org/officeDocument/2006/relationships/hyperlink" Target="https://www.geeksforgeeks.org/machine-learning/smote-for-imbalanced-classification-with-pyth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r>
              <a:rPr lang="en-US" dirty="0" smtClean="0"/>
              <a:t>Credit Scoring</a:t>
            </a:r>
            <a:endParaRPr lang="ru-RU" dirty="0"/>
          </a:p>
        </p:txBody>
      </p:sp>
      <p:sp>
        <p:nvSpPr>
          <p:cNvPr id="3" name="Подзаголовок 2"/>
          <p:cNvSpPr>
            <a:spLocks noGrp="1"/>
          </p:cNvSpPr>
          <p:nvPr>
            <p:ph type="subTitle" idx="1"/>
          </p:nvPr>
        </p:nvSpPr>
        <p:spPr/>
        <p:txBody>
          <a:bodyPr/>
          <a:lstStyle/>
          <a:p>
            <a:r>
              <a:rPr lang="en-US" dirty="0" err="1" smtClean="0"/>
              <a:t>Alexandr</a:t>
            </a:r>
            <a:r>
              <a:rPr lang="en-US" dirty="0" smtClean="0"/>
              <a:t> </a:t>
            </a:r>
            <a:r>
              <a:rPr lang="en-US" dirty="0" err="1" smtClean="0"/>
              <a:t>Belykh</a:t>
            </a:r>
            <a:r>
              <a:rPr lang="en-US" dirty="0" smtClean="0"/>
              <a:t> IT3-2209</a:t>
            </a:r>
            <a:endParaRPr lang="ru-RU" dirty="0"/>
          </a:p>
        </p:txBody>
      </p:sp>
    </p:spTree>
    <p:extLst>
      <p:ext uri="{BB962C8B-B14F-4D97-AF65-F5344CB8AC3E}">
        <p14:creationId xmlns:p14="http://schemas.microsoft.com/office/powerpoint/2010/main" val="2663362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Introduction</a:t>
            </a:r>
            <a:endParaRPr lang="ru-RU" dirty="0"/>
          </a:p>
        </p:txBody>
      </p:sp>
      <p:sp>
        <p:nvSpPr>
          <p:cNvPr id="3" name="Объект 2"/>
          <p:cNvSpPr>
            <a:spLocks noGrp="1"/>
          </p:cNvSpPr>
          <p:nvPr>
            <p:ph idx="1"/>
          </p:nvPr>
        </p:nvSpPr>
        <p:spPr/>
        <p:txBody>
          <a:bodyPr/>
          <a:lstStyle/>
          <a:p>
            <a:r>
              <a:rPr lang="en-US" dirty="0" smtClean="0"/>
              <a:t>Many people take the loans for their personal or business needs.</a:t>
            </a:r>
          </a:p>
          <a:p>
            <a:r>
              <a:rPr lang="en-US" dirty="0" smtClean="0"/>
              <a:t>But money is not endless and banks should watch how they manage their resources and find the most effective way to do it.</a:t>
            </a:r>
          </a:p>
          <a:p>
            <a:r>
              <a:rPr lang="en-US" dirty="0" smtClean="0"/>
              <a:t>Have you ever wondered how they do this?</a:t>
            </a:r>
          </a:p>
          <a:p>
            <a:pPr marL="0" indent="0">
              <a:buNone/>
            </a:pPr>
            <a:r>
              <a:rPr lang="en-US" sz="4400" dirty="0" smtClean="0"/>
              <a:t>My task:</a:t>
            </a:r>
          </a:p>
          <a:p>
            <a:r>
              <a:rPr lang="en-US" dirty="0" smtClean="0"/>
              <a:t>Create ML model that effectively decide to give a loan or not</a:t>
            </a:r>
          </a:p>
          <a:p>
            <a:r>
              <a:rPr lang="en-US" dirty="0" smtClean="0"/>
              <a:t>Deploy ML model with online inference</a:t>
            </a:r>
          </a:p>
          <a:p>
            <a:r>
              <a:rPr lang="en-US" dirty="0" smtClean="0"/>
              <a:t>Reach the best possible values in precision/recall/f1-score</a:t>
            </a:r>
            <a:endParaRPr lang="ru-RU" dirty="0"/>
          </a:p>
        </p:txBody>
      </p:sp>
    </p:spTree>
    <p:extLst>
      <p:ext uri="{BB962C8B-B14F-4D97-AF65-F5344CB8AC3E}">
        <p14:creationId xmlns:p14="http://schemas.microsoft.com/office/powerpoint/2010/main" val="3134016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Work plan</a:t>
            </a:r>
            <a:endParaRPr lang="ru-RU" dirty="0"/>
          </a:p>
        </p:txBody>
      </p:sp>
      <p:sp>
        <p:nvSpPr>
          <p:cNvPr id="3" name="Объект 2"/>
          <p:cNvSpPr>
            <a:spLocks noGrp="1"/>
          </p:cNvSpPr>
          <p:nvPr>
            <p:ph idx="1"/>
          </p:nvPr>
        </p:nvSpPr>
        <p:spPr/>
        <p:txBody>
          <a:bodyPr/>
          <a:lstStyle/>
          <a:p>
            <a:pPr marL="0" indent="0">
              <a:buNone/>
            </a:pPr>
            <a:r>
              <a:rPr lang="en-US" dirty="0" smtClean="0"/>
              <a:t>My solution was to apply machine learning and deep learning techniques in order to make the most effective credit score system as possible. And there is a brief overview what I did:</a:t>
            </a:r>
          </a:p>
          <a:p>
            <a:pPr marL="514350" indent="-514350">
              <a:buAutoNum type="arabicParenR"/>
            </a:pPr>
            <a:r>
              <a:rPr lang="en-US" dirty="0" smtClean="0"/>
              <a:t>Downloading dataset</a:t>
            </a:r>
          </a:p>
          <a:p>
            <a:pPr marL="514350" indent="-514350">
              <a:buAutoNum type="arabicParenR"/>
            </a:pPr>
            <a:r>
              <a:rPr lang="en-US" dirty="0" smtClean="0"/>
              <a:t>Cleaning and EDA</a:t>
            </a:r>
          </a:p>
          <a:p>
            <a:pPr marL="514350" indent="-514350">
              <a:buAutoNum type="arabicParenR"/>
            </a:pPr>
            <a:r>
              <a:rPr lang="en-US" dirty="0" smtClean="0"/>
              <a:t>ML part</a:t>
            </a:r>
          </a:p>
          <a:p>
            <a:pPr marL="514350" indent="-514350">
              <a:buAutoNum type="arabicParenR"/>
            </a:pPr>
            <a:r>
              <a:rPr lang="en-US" dirty="0" smtClean="0"/>
              <a:t>DL part</a:t>
            </a:r>
          </a:p>
          <a:p>
            <a:pPr marL="514350" indent="-514350">
              <a:buAutoNum type="arabicParenR"/>
            </a:pPr>
            <a:r>
              <a:rPr lang="en-US" dirty="0" smtClean="0"/>
              <a:t>Deploy</a:t>
            </a:r>
            <a:endParaRPr lang="ru-RU" dirty="0"/>
          </a:p>
        </p:txBody>
      </p:sp>
    </p:spTree>
    <p:extLst>
      <p:ext uri="{BB962C8B-B14F-4D97-AF65-F5344CB8AC3E}">
        <p14:creationId xmlns:p14="http://schemas.microsoft.com/office/powerpoint/2010/main" val="27525697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Downloading dataset</a:t>
            </a:r>
            <a:endParaRPr lang="ru-RU" dirty="0"/>
          </a:p>
        </p:txBody>
      </p:sp>
      <p:sp>
        <p:nvSpPr>
          <p:cNvPr id="3" name="Объект 2"/>
          <p:cNvSpPr>
            <a:spLocks noGrp="1"/>
          </p:cNvSpPr>
          <p:nvPr>
            <p:ph idx="1"/>
          </p:nvPr>
        </p:nvSpPr>
        <p:spPr>
          <a:xfrm>
            <a:off x="838200" y="1825624"/>
            <a:ext cx="6255327" cy="4418157"/>
          </a:xfrm>
        </p:spPr>
        <p:txBody>
          <a:bodyPr>
            <a:normAutofit/>
          </a:bodyPr>
          <a:lstStyle/>
          <a:p>
            <a:r>
              <a:rPr lang="en-US" sz="2000" dirty="0" smtClean="0"/>
              <a:t>First, but the most important part where I collected data and took a brief overview to see what it looks like.</a:t>
            </a:r>
          </a:p>
          <a:p>
            <a:r>
              <a:rPr lang="en-US" sz="2000" dirty="0" smtClean="0"/>
              <a:t>Hopefully, there is no need in cleaning as there is no missing values</a:t>
            </a:r>
          </a:p>
          <a:p>
            <a:r>
              <a:rPr lang="en-US" sz="2000" dirty="0" smtClean="0"/>
              <a:t>And what is the proportion of classes in some of the features.</a:t>
            </a:r>
          </a:p>
          <a:p>
            <a:r>
              <a:rPr lang="en-US" sz="2000" dirty="0" smtClean="0"/>
              <a:t>Most terrible, that we observe a huge </a:t>
            </a:r>
            <a:r>
              <a:rPr lang="en-US" sz="2000" dirty="0" err="1" smtClean="0"/>
              <a:t>disbalance</a:t>
            </a:r>
            <a:r>
              <a:rPr lang="en-US" sz="2000" dirty="0" smtClean="0"/>
              <a:t> in target column</a:t>
            </a:r>
          </a:p>
          <a:p>
            <a:endParaRPr lang="ru-RU" dirty="0"/>
          </a:p>
        </p:txBody>
      </p:sp>
      <p:pic>
        <p:nvPicPr>
          <p:cNvPr id="4" name="Рисунок 3"/>
          <p:cNvPicPr>
            <a:picLocks noChangeAspect="1"/>
          </p:cNvPicPr>
          <p:nvPr/>
        </p:nvPicPr>
        <p:blipFill>
          <a:blip r:embed="rId2"/>
          <a:stretch>
            <a:fillRect/>
          </a:stretch>
        </p:blipFill>
        <p:spPr>
          <a:xfrm>
            <a:off x="7396019" y="1556008"/>
            <a:ext cx="3749365" cy="1528937"/>
          </a:xfrm>
          <a:prstGeom prst="rect">
            <a:avLst/>
          </a:prstGeom>
        </p:spPr>
      </p:pic>
      <p:pic>
        <p:nvPicPr>
          <p:cNvPr id="5" name="Рисунок 4"/>
          <p:cNvPicPr>
            <a:picLocks noChangeAspect="1"/>
          </p:cNvPicPr>
          <p:nvPr/>
        </p:nvPicPr>
        <p:blipFill rotWithShape="1">
          <a:blip r:embed="rId3"/>
          <a:srcRect b="88264"/>
          <a:stretch/>
        </p:blipFill>
        <p:spPr>
          <a:xfrm>
            <a:off x="9550963" y="5401771"/>
            <a:ext cx="1882303" cy="680626"/>
          </a:xfrm>
          <a:prstGeom prst="rect">
            <a:avLst/>
          </a:prstGeom>
        </p:spPr>
      </p:pic>
      <p:pic>
        <p:nvPicPr>
          <p:cNvPr id="6" name="Рисунок 5"/>
          <p:cNvPicPr>
            <a:picLocks noChangeAspect="1"/>
          </p:cNvPicPr>
          <p:nvPr/>
        </p:nvPicPr>
        <p:blipFill rotWithShape="1">
          <a:blip r:embed="rId3"/>
          <a:srcRect t="16276" b="70664"/>
          <a:stretch/>
        </p:blipFill>
        <p:spPr>
          <a:xfrm>
            <a:off x="9550964" y="4635345"/>
            <a:ext cx="1882303" cy="757382"/>
          </a:xfrm>
          <a:prstGeom prst="rect">
            <a:avLst/>
          </a:prstGeom>
        </p:spPr>
      </p:pic>
      <p:pic>
        <p:nvPicPr>
          <p:cNvPr id="7" name="Рисунок 6"/>
          <p:cNvPicPr>
            <a:picLocks noChangeAspect="1"/>
          </p:cNvPicPr>
          <p:nvPr/>
        </p:nvPicPr>
        <p:blipFill rotWithShape="1">
          <a:blip r:embed="rId3"/>
          <a:srcRect t="34033" b="49563"/>
          <a:stretch/>
        </p:blipFill>
        <p:spPr>
          <a:xfrm>
            <a:off x="7528760" y="3266272"/>
            <a:ext cx="1882303" cy="951345"/>
          </a:xfrm>
          <a:prstGeom prst="rect">
            <a:avLst/>
          </a:prstGeom>
        </p:spPr>
      </p:pic>
      <p:pic>
        <p:nvPicPr>
          <p:cNvPr id="8" name="Рисунок 7"/>
          <p:cNvPicPr>
            <a:picLocks noChangeAspect="1"/>
          </p:cNvPicPr>
          <p:nvPr/>
        </p:nvPicPr>
        <p:blipFill rotWithShape="1">
          <a:blip r:embed="rId3"/>
          <a:srcRect t="58879" b="26787"/>
          <a:stretch/>
        </p:blipFill>
        <p:spPr>
          <a:xfrm>
            <a:off x="9550963" y="3326307"/>
            <a:ext cx="1882303" cy="831273"/>
          </a:xfrm>
          <a:prstGeom prst="rect">
            <a:avLst/>
          </a:prstGeom>
        </p:spPr>
      </p:pic>
      <p:pic>
        <p:nvPicPr>
          <p:cNvPr id="9" name="Рисунок 8"/>
          <p:cNvPicPr>
            <a:picLocks noChangeAspect="1"/>
          </p:cNvPicPr>
          <p:nvPr/>
        </p:nvPicPr>
        <p:blipFill>
          <a:blip r:embed="rId4"/>
          <a:stretch>
            <a:fillRect/>
          </a:stretch>
        </p:blipFill>
        <p:spPr>
          <a:xfrm>
            <a:off x="874970" y="4703057"/>
            <a:ext cx="6763108" cy="1379340"/>
          </a:xfrm>
          <a:prstGeom prst="rect">
            <a:avLst/>
          </a:prstGeom>
        </p:spPr>
      </p:pic>
      <p:pic>
        <p:nvPicPr>
          <p:cNvPr id="10" name="Рисунок 9"/>
          <p:cNvPicPr>
            <a:picLocks noChangeAspect="1"/>
          </p:cNvPicPr>
          <p:nvPr/>
        </p:nvPicPr>
        <p:blipFill>
          <a:blip r:embed="rId5"/>
          <a:stretch>
            <a:fillRect/>
          </a:stretch>
        </p:blipFill>
        <p:spPr>
          <a:xfrm>
            <a:off x="7638078" y="4703057"/>
            <a:ext cx="1772985" cy="1356478"/>
          </a:xfrm>
          <a:prstGeom prst="rect">
            <a:avLst/>
          </a:prstGeom>
        </p:spPr>
      </p:pic>
    </p:spTree>
    <p:extLst>
      <p:ext uri="{BB962C8B-B14F-4D97-AF65-F5344CB8AC3E}">
        <p14:creationId xmlns:p14="http://schemas.microsoft.com/office/powerpoint/2010/main" val="1538605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EDA (part 1)</a:t>
            </a:r>
            <a:endParaRPr lang="ru-RU" dirty="0"/>
          </a:p>
        </p:txBody>
      </p:sp>
      <p:sp>
        <p:nvSpPr>
          <p:cNvPr id="3" name="Объект 2"/>
          <p:cNvSpPr>
            <a:spLocks noGrp="1"/>
          </p:cNvSpPr>
          <p:nvPr>
            <p:ph idx="1"/>
          </p:nvPr>
        </p:nvSpPr>
        <p:spPr>
          <a:xfrm>
            <a:off x="838200" y="1899515"/>
            <a:ext cx="5618018" cy="4351338"/>
          </a:xfrm>
        </p:spPr>
        <p:txBody>
          <a:bodyPr>
            <a:normAutofit/>
          </a:bodyPr>
          <a:lstStyle/>
          <a:p>
            <a:r>
              <a:rPr lang="en-US" dirty="0" smtClean="0"/>
              <a:t>In these part I show the first result of analysis and essential steps such as </a:t>
            </a:r>
            <a:r>
              <a:rPr lang="en-US" dirty="0" err="1" smtClean="0"/>
              <a:t>heatmap</a:t>
            </a:r>
            <a:r>
              <a:rPr lang="en-US" dirty="0" smtClean="0"/>
              <a:t> correlation and graph distributions of features’ values</a:t>
            </a:r>
            <a:endParaRPr lang="en-US" dirty="0"/>
          </a:p>
          <a:p>
            <a:r>
              <a:rPr lang="en-US" dirty="0" smtClean="0"/>
              <a:t>There I built correlation </a:t>
            </a:r>
            <a:r>
              <a:rPr lang="en-US" dirty="0" err="1" smtClean="0"/>
              <a:t>heatmap</a:t>
            </a:r>
            <a:r>
              <a:rPr lang="en-US" dirty="0" smtClean="0"/>
              <a:t> and plot distribution graphs according to key features</a:t>
            </a:r>
          </a:p>
          <a:p>
            <a:r>
              <a:rPr lang="en-US" dirty="0" smtClean="0"/>
              <a:t>It is obvious that features mostly have binomial or shifted normal distributions</a:t>
            </a:r>
            <a:endParaRPr lang="ru-RU" dirty="0"/>
          </a:p>
        </p:txBody>
      </p:sp>
      <p:pic>
        <p:nvPicPr>
          <p:cNvPr id="6" name="Рисунок 5"/>
          <p:cNvPicPr>
            <a:picLocks noChangeAspect="1"/>
          </p:cNvPicPr>
          <p:nvPr/>
        </p:nvPicPr>
        <p:blipFill rotWithShape="1">
          <a:blip r:embed="rId2"/>
          <a:srcRect b="29255"/>
          <a:stretch/>
        </p:blipFill>
        <p:spPr>
          <a:xfrm>
            <a:off x="7224794" y="181467"/>
            <a:ext cx="4511588" cy="2635623"/>
          </a:xfrm>
          <a:prstGeom prst="rect">
            <a:avLst/>
          </a:prstGeom>
        </p:spPr>
      </p:pic>
      <p:pic>
        <p:nvPicPr>
          <p:cNvPr id="7" name="Рисунок 6"/>
          <p:cNvPicPr>
            <a:picLocks noChangeAspect="1"/>
          </p:cNvPicPr>
          <p:nvPr/>
        </p:nvPicPr>
        <p:blipFill>
          <a:blip r:embed="rId3"/>
          <a:stretch>
            <a:fillRect/>
          </a:stretch>
        </p:blipFill>
        <p:spPr>
          <a:xfrm>
            <a:off x="6456218" y="2988972"/>
            <a:ext cx="2447637" cy="1826709"/>
          </a:xfrm>
          <a:prstGeom prst="rect">
            <a:avLst/>
          </a:prstGeom>
        </p:spPr>
      </p:pic>
      <p:pic>
        <p:nvPicPr>
          <p:cNvPr id="8" name="Рисунок 7"/>
          <p:cNvPicPr>
            <a:picLocks noChangeAspect="1"/>
          </p:cNvPicPr>
          <p:nvPr/>
        </p:nvPicPr>
        <p:blipFill>
          <a:blip r:embed="rId4"/>
          <a:stretch>
            <a:fillRect/>
          </a:stretch>
        </p:blipFill>
        <p:spPr>
          <a:xfrm>
            <a:off x="9125473" y="2846120"/>
            <a:ext cx="2610909" cy="1969561"/>
          </a:xfrm>
          <a:prstGeom prst="rect">
            <a:avLst/>
          </a:prstGeom>
        </p:spPr>
      </p:pic>
      <p:pic>
        <p:nvPicPr>
          <p:cNvPr id="9" name="Рисунок 8"/>
          <p:cNvPicPr>
            <a:picLocks noChangeAspect="1"/>
          </p:cNvPicPr>
          <p:nvPr/>
        </p:nvPicPr>
        <p:blipFill>
          <a:blip r:embed="rId5"/>
          <a:stretch>
            <a:fillRect/>
          </a:stretch>
        </p:blipFill>
        <p:spPr>
          <a:xfrm>
            <a:off x="6456218" y="4844711"/>
            <a:ext cx="2669255" cy="1775851"/>
          </a:xfrm>
          <a:prstGeom prst="rect">
            <a:avLst/>
          </a:prstGeom>
        </p:spPr>
      </p:pic>
      <p:pic>
        <p:nvPicPr>
          <p:cNvPr id="10" name="Рисунок 9"/>
          <p:cNvPicPr>
            <a:picLocks noChangeAspect="1"/>
          </p:cNvPicPr>
          <p:nvPr/>
        </p:nvPicPr>
        <p:blipFill>
          <a:blip r:embed="rId6"/>
          <a:stretch>
            <a:fillRect/>
          </a:stretch>
        </p:blipFill>
        <p:spPr>
          <a:xfrm>
            <a:off x="9254836" y="4844711"/>
            <a:ext cx="2407655" cy="1780901"/>
          </a:xfrm>
          <a:prstGeom prst="rect">
            <a:avLst/>
          </a:prstGeom>
        </p:spPr>
      </p:pic>
    </p:spTree>
    <p:extLst>
      <p:ext uri="{BB962C8B-B14F-4D97-AF65-F5344CB8AC3E}">
        <p14:creationId xmlns:p14="http://schemas.microsoft.com/office/powerpoint/2010/main" val="19445978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EDA (part 2)</a:t>
            </a:r>
            <a:br>
              <a:rPr lang="en-US" dirty="0" smtClean="0"/>
            </a:br>
            <a:r>
              <a:rPr lang="en-US" sz="1400" dirty="0" smtClean="0"/>
              <a:t>There I plot two graphs – scatter plots of most correlated features</a:t>
            </a:r>
            <a:endParaRPr lang="ru-RU" dirty="0"/>
          </a:p>
        </p:txBody>
      </p:sp>
      <p:sp>
        <p:nvSpPr>
          <p:cNvPr id="3" name="Текст 2"/>
          <p:cNvSpPr>
            <a:spLocks noGrp="1"/>
          </p:cNvSpPr>
          <p:nvPr>
            <p:ph type="body" idx="1"/>
          </p:nvPr>
        </p:nvSpPr>
        <p:spPr>
          <a:xfrm>
            <a:off x="839788" y="1681163"/>
            <a:ext cx="5157787" cy="443201"/>
          </a:xfrm>
        </p:spPr>
        <p:txBody>
          <a:bodyPr/>
          <a:lstStyle/>
          <a:p>
            <a:r>
              <a:rPr lang="en-US" dirty="0" smtClean="0"/>
              <a:t>Credit score and person age</a:t>
            </a:r>
            <a:endParaRPr lang="ru-RU" dirty="0"/>
          </a:p>
        </p:txBody>
      </p:sp>
      <p:pic>
        <p:nvPicPr>
          <p:cNvPr id="7" name="Объект 6"/>
          <p:cNvPicPr>
            <a:picLocks noGrp="1" noChangeAspect="1"/>
          </p:cNvPicPr>
          <p:nvPr>
            <p:ph sz="half" idx="2"/>
          </p:nvPr>
        </p:nvPicPr>
        <p:blipFill>
          <a:blip r:embed="rId2"/>
          <a:stretch>
            <a:fillRect/>
          </a:stretch>
        </p:blipFill>
        <p:spPr>
          <a:xfrm>
            <a:off x="665163" y="2542021"/>
            <a:ext cx="4607576" cy="2122343"/>
          </a:xfrm>
          <a:prstGeom prst="rect">
            <a:avLst/>
          </a:prstGeom>
        </p:spPr>
      </p:pic>
      <p:sp>
        <p:nvSpPr>
          <p:cNvPr id="5" name="Текст 4"/>
          <p:cNvSpPr>
            <a:spLocks noGrp="1"/>
          </p:cNvSpPr>
          <p:nvPr>
            <p:ph type="body" sz="quarter" idx="3"/>
          </p:nvPr>
        </p:nvSpPr>
        <p:spPr>
          <a:xfrm>
            <a:off x="6172200" y="1681163"/>
            <a:ext cx="5183188" cy="443201"/>
          </a:xfrm>
        </p:spPr>
        <p:txBody>
          <a:bodyPr/>
          <a:lstStyle/>
          <a:p>
            <a:r>
              <a:rPr lang="en-US" dirty="0" smtClean="0"/>
              <a:t>Credit score and loan percent income</a:t>
            </a:r>
            <a:endParaRPr lang="ru-RU" dirty="0"/>
          </a:p>
        </p:txBody>
      </p:sp>
      <p:pic>
        <p:nvPicPr>
          <p:cNvPr id="9" name="Объект 8"/>
          <p:cNvPicPr>
            <a:picLocks noGrp="1" noChangeAspect="1"/>
          </p:cNvPicPr>
          <p:nvPr>
            <p:ph sz="quarter" idx="4"/>
          </p:nvPr>
        </p:nvPicPr>
        <p:blipFill>
          <a:blip r:embed="rId3"/>
          <a:stretch>
            <a:fillRect/>
          </a:stretch>
        </p:blipFill>
        <p:spPr>
          <a:xfrm>
            <a:off x="6172200" y="2707169"/>
            <a:ext cx="5183188" cy="2946399"/>
          </a:xfrm>
          <a:prstGeom prst="rect">
            <a:avLst/>
          </a:prstGeom>
        </p:spPr>
      </p:pic>
      <p:pic>
        <p:nvPicPr>
          <p:cNvPr id="8" name="Рисунок 7"/>
          <p:cNvPicPr>
            <a:picLocks noChangeAspect="1"/>
          </p:cNvPicPr>
          <p:nvPr/>
        </p:nvPicPr>
        <p:blipFill>
          <a:blip r:embed="rId4"/>
          <a:stretch>
            <a:fillRect/>
          </a:stretch>
        </p:blipFill>
        <p:spPr>
          <a:xfrm>
            <a:off x="665163" y="4627418"/>
            <a:ext cx="5133600" cy="2179157"/>
          </a:xfrm>
          <a:prstGeom prst="rect">
            <a:avLst/>
          </a:prstGeom>
        </p:spPr>
      </p:pic>
      <p:pic>
        <p:nvPicPr>
          <p:cNvPr id="10" name="Рисунок 9"/>
          <p:cNvPicPr>
            <a:picLocks noChangeAspect="1"/>
          </p:cNvPicPr>
          <p:nvPr/>
        </p:nvPicPr>
        <p:blipFill>
          <a:blip r:embed="rId5"/>
          <a:stretch>
            <a:fillRect/>
          </a:stretch>
        </p:blipFill>
        <p:spPr>
          <a:xfrm>
            <a:off x="6253019" y="5653568"/>
            <a:ext cx="5384800" cy="1153007"/>
          </a:xfrm>
          <a:prstGeom prst="rect">
            <a:avLst/>
          </a:prstGeom>
        </p:spPr>
      </p:pic>
    </p:spTree>
    <p:extLst>
      <p:ext uri="{BB962C8B-B14F-4D97-AF65-F5344CB8AC3E}">
        <p14:creationId xmlns:p14="http://schemas.microsoft.com/office/powerpoint/2010/main" val="2829983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ML (part 1)</a:t>
            </a:r>
            <a:endParaRPr lang="ru-RU" dirty="0"/>
          </a:p>
        </p:txBody>
      </p:sp>
      <p:sp>
        <p:nvSpPr>
          <p:cNvPr id="3" name="Объект 2"/>
          <p:cNvSpPr>
            <a:spLocks noGrp="1"/>
          </p:cNvSpPr>
          <p:nvPr>
            <p:ph idx="1"/>
          </p:nvPr>
        </p:nvSpPr>
        <p:spPr/>
        <p:txBody>
          <a:bodyPr/>
          <a:lstStyle/>
          <a:p>
            <a:r>
              <a:rPr lang="en-US" dirty="0" smtClean="0"/>
              <a:t>Our task – classification of approved and rejected loans</a:t>
            </a:r>
          </a:p>
          <a:p>
            <a:r>
              <a:rPr lang="en-US" dirty="0" smtClean="0"/>
              <a:t>Firstly, before starting applying ML methods you always need to divide data into 2 (3) parts – train/test/(validation)</a:t>
            </a:r>
          </a:p>
          <a:p>
            <a:r>
              <a:rPr lang="en-US" dirty="0" smtClean="0"/>
              <a:t>In my work I divided them into train/test split with ratio 80/20</a:t>
            </a:r>
          </a:p>
          <a:p>
            <a:r>
              <a:rPr lang="en-US" dirty="0" smtClean="0"/>
              <a:t>But, before splitting, it is important to get rid of categorical features as non of ML models could hang it (except </a:t>
            </a:r>
            <a:r>
              <a:rPr lang="en-US" dirty="0" err="1" smtClean="0"/>
              <a:t>CatBoost</a:t>
            </a:r>
            <a:r>
              <a:rPr lang="en-US" dirty="0" smtClean="0"/>
              <a:t>)</a:t>
            </a:r>
          </a:p>
          <a:p>
            <a:endParaRPr lang="ru-RU" b="1" dirty="0"/>
          </a:p>
        </p:txBody>
      </p:sp>
      <p:pic>
        <p:nvPicPr>
          <p:cNvPr id="4" name="Рисунок 3"/>
          <p:cNvPicPr>
            <a:picLocks noChangeAspect="1"/>
          </p:cNvPicPr>
          <p:nvPr/>
        </p:nvPicPr>
        <p:blipFill>
          <a:blip r:embed="rId2"/>
          <a:stretch>
            <a:fillRect/>
          </a:stretch>
        </p:blipFill>
        <p:spPr>
          <a:xfrm>
            <a:off x="838200" y="4730601"/>
            <a:ext cx="9350550" cy="1337690"/>
          </a:xfrm>
          <a:prstGeom prst="rect">
            <a:avLst/>
          </a:prstGeom>
        </p:spPr>
      </p:pic>
    </p:spTree>
    <p:extLst>
      <p:ext uri="{BB962C8B-B14F-4D97-AF65-F5344CB8AC3E}">
        <p14:creationId xmlns:p14="http://schemas.microsoft.com/office/powerpoint/2010/main" val="1985368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320964" y="365125"/>
            <a:ext cx="10515600" cy="1325563"/>
          </a:xfrm>
        </p:spPr>
        <p:txBody>
          <a:bodyPr/>
          <a:lstStyle/>
          <a:p>
            <a:r>
              <a:rPr lang="en-US" dirty="0" smtClean="0"/>
              <a:t>ML (part 2)</a:t>
            </a:r>
            <a:endParaRPr lang="ru-RU" dirty="0"/>
          </a:p>
        </p:txBody>
      </p:sp>
      <p:pic>
        <p:nvPicPr>
          <p:cNvPr id="5" name="Объект 4"/>
          <p:cNvPicPr>
            <a:picLocks noGrp="1" noChangeAspect="1"/>
          </p:cNvPicPr>
          <p:nvPr>
            <p:ph idx="1"/>
          </p:nvPr>
        </p:nvPicPr>
        <p:blipFill>
          <a:blip r:embed="rId2"/>
          <a:stretch>
            <a:fillRect/>
          </a:stretch>
        </p:blipFill>
        <p:spPr>
          <a:xfrm>
            <a:off x="4645891" y="1690688"/>
            <a:ext cx="6256562" cy="1585097"/>
          </a:xfrm>
          <a:prstGeom prst="rect">
            <a:avLst/>
          </a:prstGeom>
        </p:spPr>
      </p:pic>
      <p:pic>
        <p:nvPicPr>
          <p:cNvPr id="4" name="Рисунок 3"/>
          <p:cNvPicPr>
            <a:picLocks noChangeAspect="1"/>
          </p:cNvPicPr>
          <p:nvPr/>
        </p:nvPicPr>
        <p:blipFill>
          <a:blip r:embed="rId3"/>
          <a:stretch>
            <a:fillRect/>
          </a:stretch>
        </p:blipFill>
        <p:spPr>
          <a:xfrm>
            <a:off x="4645891" y="3402425"/>
            <a:ext cx="6505088" cy="2948629"/>
          </a:xfrm>
          <a:prstGeom prst="rect">
            <a:avLst/>
          </a:prstGeom>
        </p:spPr>
      </p:pic>
      <p:sp>
        <p:nvSpPr>
          <p:cNvPr id="6" name="TextBox 5"/>
          <p:cNvSpPr txBox="1"/>
          <p:nvPr/>
        </p:nvSpPr>
        <p:spPr>
          <a:xfrm>
            <a:off x="766618" y="2332835"/>
            <a:ext cx="3380509" cy="369332"/>
          </a:xfrm>
          <a:prstGeom prst="rect">
            <a:avLst/>
          </a:prstGeom>
          <a:noFill/>
        </p:spPr>
        <p:txBody>
          <a:bodyPr wrap="square" rtlCol="0">
            <a:spAutoFit/>
          </a:bodyPr>
          <a:lstStyle/>
          <a:p>
            <a:r>
              <a:rPr lang="en-US" dirty="0" smtClean="0"/>
              <a:t>One-hot encoding </a:t>
            </a:r>
            <a:r>
              <a:rPr lang="en-US" sz="1050" dirty="0" smtClean="0"/>
              <a:t>[6]</a:t>
            </a:r>
            <a:endParaRPr lang="ru-RU" sz="1050" dirty="0"/>
          </a:p>
        </p:txBody>
      </p:sp>
      <p:sp>
        <p:nvSpPr>
          <p:cNvPr id="7" name="TextBox 6"/>
          <p:cNvSpPr txBox="1"/>
          <p:nvPr/>
        </p:nvSpPr>
        <p:spPr>
          <a:xfrm>
            <a:off x="766618" y="4692073"/>
            <a:ext cx="3528291" cy="369332"/>
          </a:xfrm>
          <a:prstGeom prst="rect">
            <a:avLst/>
          </a:prstGeom>
          <a:noFill/>
        </p:spPr>
        <p:txBody>
          <a:bodyPr wrap="square" rtlCol="0">
            <a:spAutoFit/>
          </a:bodyPr>
          <a:lstStyle/>
          <a:p>
            <a:r>
              <a:rPr lang="en-US" dirty="0" smtClean="0"/>
              <a:t>Random Forest vs Boosting </a:t>
            </a:r>
            <a:r>
              <a:rPr lang="en-US" sz="1050" dirty="0" smtClean="0"/>
              <a:t>[7]</a:t>
            </a:r>
            <a:endParaRPr lang="ru-RU" sz="1050" dirty="0"/>
          </a:p>
        </p:txBody>
      </p:sp>
    </p:spTree>
    <p:extLst>
      <p:ext uri="{BB962C8B-B14F-4D97-AF65-F5344CB8AC3E}">
        <p14:creationId xmlns:p14="http://schemas.microsoft.com/office/powerpoint/2010/main" val="32703098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28179"/>
            <a:ext cx="10515600" cy="1325563"/>
          </a:xfrm>
        </p:spPr>
        <p:txBody>
          <a:bodyPr/>
          <a:lstStyle/>
          <a:p>
            <a:r>
              <a:rPr lang="en-US" dirty="0" smtClean="0"/>
              <a:t>ML (part 3)</a:t>
            </a:r>
            <a:endParaRPr lang="ru-RU" dirty="0"/>
          </a:p>
        </p:txBody>
      </p:sp>
      <p:sp>
        <p:nvSpPr>
          <p:cNvPr id="3" name="Объект 2"/>
          <p:cNvSpPr>
            <a:spLocks noGrp="1"/>
          </p:cNvSpPr>
          <p:nvPr>
            <p:ph idx="1"/>
          </p:nvPr>
        </p:nvSpPr>
        <p:spPr>
          <a:xfrm>
            <a:off x="838199" y="1825625"/>
            <a:ext cx="9081655" cy="4351338"/>
          </a:xfrm>
        </p:spPr>
        <p:txBody>
          <a:bodyPr/>
          <a:lstStyle/>
          <a:p>
            <a:r>
              <a:rPr lang="en-US" dirty="0" smtClean="0"/>
              <a:t>I decided to use ensembles initially as they usually give the best results.</a:t>
            </a:r>
          </a:p>
          <a:p>
            <a:r>
              <a:rPr lang="en-US" dirty="0" smtClean="0"/>
              <a:t>Random Forest                                                   Boosting (XGB)</a:t>
            </a:r>
            <a:endParaRPr lang="ru-RU" dirty="0" smtClean="0"/>
          </a:p>
          <a:p>
            <a:endParaRPr lang="en-US" dirty="0" smtClean="0"/>
          </a:p>
          <a:p>
            <a:endParaRPr lang="en-US" dirty="0"/>
          </a:p>
          <a:p>
            <a:endParaRPr lang="en-US" dirty="0" smtClean="0"/>
          </a:p>
          <a:p>
            <a:pPr marL="0" indent="0">
              <a:buNone/>
            </a:pPr>
            <a:r>
              <a:rPr lang="en-US" dirty="0" smtClean="0"/>
              <a:t>In every method I used I initiated random seed with value 42 which makes sure that every time the distribution stays the same and answers can be safely compared                      </a:t>
            </a:r>
            <a:endParaRPr lang="ru-RU" dirty="0"/>
          </a:p>
        </p:txBody>
      </p:sp>
      <p:pic>
        <p:nvPicPr>
          <p:cNvPr id="4" name="Рисунок 3"/>
          <p:cNvPicPr>
            <a:picLocks noChangeAspect="1"/>
          </p:cNvPicPr>
          <p:nvPr/>
        </p:nvPicPr>
        <p:blipFill>
          <a:blip r:embed="rId2"/>
          <a:stretch>
            <a:fillRect/>
          </a:stretch>
        </p:blipFill>
        <p:spPr>
          <a:xfrm>
            <a:off x="1007210" y="3479279"/>
            <a:ext cx="3010161" cy="1044030"/>
          </a:xfrm>
          <a:prstGeom prst="rect">
            <a:avLst/>
          </a:prstGeom>
        </p:spPr>
      </p:pic>
      <p:pic>
        <p:nvPicPr>
          <p:cNvPr id="5" name="Рисунок 4"/>
          <p:cNvPicPr>
            <a:picLocks noChangeAspect="1"/>
          </p:cNvPicPr>
          <p:nvPr/>
        </p:nvPicPr>
        <p:blipFill>
          <a:blip r:embed="rId3"/>
          <a:stretch>
            <a:fillRect/>
          </a:stretch>
        </p:blipFill>
        <p:spPr>
          <a:xfrm>
            <a:off x="6844145" y="3397468"/>
            <a:ext cx="2885110" cy="1026750"/>
          </a:xfrm>
          <a:prstGeom prst="rect">
            <a:avLst/>
          </a:prstGeom>
        </p:spPr>
      </p:pic>
    </p:spTree>
    <p:extLst>
      <p:ext uri="{BB962C8B-B14F-4D97-AF65-F5344CB8AC3E}">
        <p14:creationId xmlns:p14="http://schemas.microsoft.com/office/powerpoint/2010/main" val="5321806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ML (additional)</a:t>
            </a:r>
            <a:endParaRPr lang="ru-RU" dirty="0"/>
          </a:p>
        </p:txBody>
      </p:sp>
      <p:sp>
        <p:nvSpPr>
          <p:cNvPr id="3" name="Объект 2"/>
          <p:cNvSpPr>
            <a:spLocks noGrp="1"/>
          </p:cNvSpPr>
          <p:nvPr>
            <p:ph idx="1"/>
          </p:nvPr>
        </p:nvSpPr>
        <p:spPr/>
        <p:txBody>
          <a:bodyPr/>
          <a:lstStyle/>
          <a:p>
            <a:r>
              <a:rPr lang="en-US" dirty="0" smtClean="0"/>
              <a:t>Most people would satisfied with obtained results but I am going to receive as much higher score (accuracy/precision/recall) as possible</a:t>
            </a:r>
          </a:p>
          <a:p>
            <a:r>
              <a:rPr lang="en-US" dirty="0" smtClean="0"/>
              <a:t>I used the following methods:</a:t>
            </a:r>
          </a:p>
          <a:p>
            <a:pPr marL="514350" indent="-514350">
              <a:buAutoNum type="arabicParenR"/>
            </a:pPr>
            <a:r>
              <a:rPr lang="en-US" dirty="0" smtClean="0"/>
              <a:t>Balanced weight classes</a:t>
            </a:r>
          </a:p>
          <a:p>
            <a:pPr marL="514350" indent="-514350">
              <a:buAutoNum type="arabicParenR"/>
            </a:pPr>
            <a:r>
              <a:rPr lang="en-US" dirty="0" smtClean="0"/>
              <a:t>Oversampling</a:t>
            </a:r>
          </a:p>
          <a:p>
            <a:pPr marL="514350" indent="-514350">
              <a:buAutoNum type="arabicParenR"/>
            </a:pPr>
            <a:r>
              <a:rPr lang="en-US" dirty="0" smtClean="0"/>
              <a:t>Classification border tuning</a:t>
            </a:r>
          </a:p>
          <a:p>
            <a:pPr marL="514350" indent="-514350">
              <a:buAutoNum type="arabicParenR"/>
            </a:pPr>
            <a:r>
              <a:rPr lang="en-US" dirty="0" smtClean="0"/>
              <a:t>Target encoding</a:t>
            </a:r>
          </a:p>
          <a:p>
            <a:pPr marL="514350" indent="-514350">
              <a:buAutoNum type="arabicParenR"/>
            </a:pPr>
            <a:r>
              <a:rPr lang="en-US" dirty="0" smtClean="0"/>
              <a:t>Stacking + </a:t>
            </a:r>
            <a:r>
              <a:rPr lang="en-US" dirty="0" err="1" smtClean="0"/>
              <a:t>Optuna</a:t>
            </a:r>
            <a:endParaRPr lang="en-US" dirty="0"/>
          </a:p>
          <a:p>
            <a:endParaRPr lang="ru-RU" dirty="0"/>
          </a:p>
        </p:txBody>
      </p:sp>
    </p:spTree>
    <p:extLst>
      <p:ext uri="{BB962C8B-B14F-4D97-AF65-F5344CB8AC3E}">
        <p14:creationId xmlns:p14="http://schemas.microsoft.com/office/powerpoint/2010/main" val="3177008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Balanced class weights</a:t>
            </a:r>
            <a:endParaRPr lang="ru-RU" dirty="0"/>
          </a:p>
        </p:txBody>
      </p:sp>
      <p:sp>
        <p:nvSpPr>
          <p:cNvPr id="3" name="Объект 2"/>
          <p:cNvSpPr>
            <a:spLocks noGrp="1"/>
          </p:cNvSpPr>
          <p:nvPr>
            <p:ph idx="1"/>
          </p:nvPr>
        </p:nvSpPr>
        <p:spPr/>
        <p:txBody>
          <a:bodyPr/>
          <a:lstStyle/>
          <a:p>
            <a:r>
              <a:rPr lang="en-US" dirty="0" smtClean="0"/>
              <a:t>In this method,</a:t>
            </a:r>
            <a:r>
              <a:rPr lang="en-US" dirty="0"/>
              <a:t> the algorithm automatically calculates and assigns weights to each class during the training process</a:t>
            </a:r>
            <a:r>
              <a:rPr lang="en-US" dirty="0" smtClean="0"/>
              <a:t>. </a:t>
            </a:r>
            <a:r>
              <a:rPr lang="en-US" dirty="0"/>
              <a:t>These weights are inversely proportional to the frequency of each class in the training data. This means that classes with fewer samples (minority classes) receive higher weights, while classes with more samples (majority classes) receive lower weights</a:t>
            </a:r>
            <a:r>
              <a:rPr lang="en-US" dirty="0" smtClean="0"/>
              <a:t>. </a:t>
            </a:r>
          </a:p>
          <a:p>
            <a:r>
              <a:rPr lang="en-US" dirty="0" smtClean="0"/>
              <a:t>This did not improve quality in a significant way</a:t>
            </a:r>
          </a:p>
          <a:p>
            <a:endParaRPr lang="ru-RU" dirty="0"/>
          </a:p>
        </p:txBody>
      </p:sp>
      <p:pic>
        <p:nvPicPr>
          <p:cNvPr id="5" name="Рисунок 4"/>
          <p:cNvPicPr>
            <a:picLocks noChangeAspect="1"/>
          </p:cNvPicPr>
          <p:nvPr/>
        </p:nvPicPr>
        <p:blipFill rotWithShape="1">
          <a:blip r:embed="rId2"/>
          <a:srcRect l="3138"/>
          <a:stretch/>
        </p:blipFill>
        <p:spPr>
          <a:xfrm>
            <a:off x="838200" y="4738255"/>
            <a:ext cx="4481945" cy="1438707"/>
          </a:xfrm>
          <a:prstGeom prst="rect">
            <a:avLst/>
          </a:prstGeom>
        </p:spPr>
      </p:pic>
      <p:pic>
        <p:nvPicPr>
          <p:cNvPr id="6" name="Рисунок 5"/>
          <p:cNvPicPr>
            <a:picLocks noChangeAspect="1"/>
          </p:cNvPicPr>
          <p:nvPr/>
        </p:nvPicPr>
        <p:blipFill>
          <a:blip r:embed="rId3"/>
          <a:stretch>
            <a:fillRect/>
          </a:stretch>
        </p:blipFill>
        <p:spPr>
          <a:xfrm>
            <a:off x="5333480" y="4738255"/>
            <a:ext cx="2397357" cy="1158340"/>
          </a:xfrm>
          <a:prstGeom prst="rect">
            <a:avLst/>
          </a:prstGeom>
        </p:spPr>
      </p:pic>
      <p:pic>
        <p:nvPicPr>
          <p:cNvPr id="7" name="Рисунок 6"/>
          <p:cNvPicPr>
            <a:picLocks noChangeAspect="1"/>
          </p:cNvPicPr>
          <p:nvPr/>
        </p:nvPicPr>
        <p:blipFill>
          <a:blip r:embed="rId4"/>
          <a:stretch>
            <a:fillRect/>
          </a:stretch>
        </p:blipFill>
        <p:spPr>
          <a:xfrm>
            <a:off x="7744172" y="4850330"/>
            <a:ext cx="2327564" cy="1046265"/>
          </a:xfrm>
          <a:prstGeom prst="rect">
            <a:avLst/>
          </a:prstGeom>
        </p:spPr>
      </p:pic>
    </p:spTree>
    <p:extLst>
      <p:ext uri="{BB962C8B-B14F-4D97-AF65-F5344CB8AC3E}">
        <p14:creationId xmlns:p14="http://schemas.microsoft.com/office/powerpoint/2010/main" val="244289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Oversampling</a:t>
            </a:r>
            <a:endParaRPr lang="ru-RU" dirty="0"/>
          </a:p>
        </p:txBody>
      </p:sp>
      <p:sp>
        <p:nvSpPr>
          <p:cNvPr id="3" name="Объект 2"/>
          <p:cNvSpPr>
            <a:spLocks noGrp="1"/>
          </p:cNvSpPr>
          <p:nvPr>
            <p:ph idx="1"/>
          </p:nvPr>
        </p:nvSpPr>
        <p:spPr/>
        <p:txBody>
          <a:bodyPr>
            <a:normAutofit/>
          </a:bodyPr>
          <a:lstStyle/>
          <a:p>
            <a:r>
              <a:rPr lang="en-US" sz="1600" dirty="0"/>
              <a:t>SMOTE effectively addresses data imbalance by generating synthetic samples, enriching the minority class and refining decision boundaries. Despite its benefits, SMOTE's computational demands can escalate with larger datasets and high-dimensional feature spaces</a:t>
            </a:r>
            <a:r>
              <a:rPr lang="en-US" sz="1600" dirty="0" smtClean="0"/>
              <a:t>. </a:t>
            </a:r>
            <a:r>
              <a:rPr lang="en-US" sz="1100" dirty="0" smtClean="0"/>
              <a:t>[8]</a:t>
            </a:r>
          </a:p>
          <a:p>
            <a:r>
              <a:rPr lang="en-US" sz="1600" dirty="0" smtClean="0"/>
              <a:t>ADASYN - an </a:t>
            </a:r>
            <a:r>
              <a:rPr lang="en-US" sz="1600" dirty="0"/>
              <a:t>improved version of SMOTE that automatically focuses more on minority samples that are difficult to learn. Instead of generating synthetic samples uniformly, ADASYN creates more new samples for minority points that are near the decision boundary where the model usually makes more </a:t>
            </a:r>
            <a:r>
              <a:rPr lang="en-US" sz="1600" dirty="0" smtClean="0"/>
              <a:t>mistakes </a:t>
            </a:r>
            <a:r>
              <a:rPr lang="en-US" sz="1050" dirty="0" smtClean="0"/>
              <a:t>[8]</a:t>
            </a:r>
          </a:p>
          <a:p>
            <a:r>
              <a:rPr lang="en-US" sz="1600" dirty="0" smtClean="0"/>
              <a:t>We can see a little increase in f1-score for ADASYN making it a good choice to deal with imbalance</a:t>
            </a:r>
            <a:endParaRPr lang="ru-RU" sz="1600" dirty="0"/>
          </a:p>
        </p:txBody>
      </p:sp>
      <p:pic>
        <p:nvPicPr>
          <p:cNvPr id="4" name="Рисунок 3"/>
          <p:cNvPicPr>
            <a:picLocks noChangeAspect="1"/>
          </p:cNvPicPr>
          <p:nvPr/>
        </p:nvPicPr>
        <p:blipFill>
          <a:blip r:embed="rId2"/>
          <a:stretch>
            <a:fillRect/>
          </a:stretch>
        </p:blipFill>
        <p:spPr>
          <a:xfrm>
            <a:off x="838200" y="3841031"/>
            <a:ext cx="4938188" cy="2217612"/>
          </a:xfrm>
          <a:prstGeom prst="rect">
            <a:avLst/>
          </a:prstGeom>
        </p:spPr>
      </p:pic>
      <p:pic>
        <p:nvPicPr>
          <p:cNvPr id="5" name="Рисунок 4"/>
          <p:cNvPicPr>
            <a:picLocks noChangeAspect="1"/>
          </p:cNvPicPr>
          <p:nvPr/>
        </p:nvPicPr>
        <p:blipFill>
          <a:blip r:embed="rId3"/>
          <a:stretch>
            <a:fillRect/>
          </a:stretch>
        </p:blipFill>
        <p:spPr>
          <a:xfrm>
            <a:off x="5868311" y="4370667"/>
            <a:ext cx="2949196" cy="1158340"/>
          </a:xfrm>
          <a:prstGeom prst="rect">
            <a:avLst/>
          </a:prstGeom>
        </p:spPr>
      </p:pic>
      <p:pic>
        <p:nvPicPr>
          <p:cNvPr id="6" name="Рисунок 5"/>
          <p:cNvPicPr>
            <a:picLocks noChangeAspect="1"/>
          </p:cNvPicPr>
          <p:nvPr/>
        </p:nvPicPr>
        <p:blipFill rotWithShape="1">
          <a:blip r:embed="rId4"/>
          <a:srcRect t="2989"/>
          <a:stretch/>
        </p:blipFill>
        <p:spPr>
          <a:xfrm>
            <a:off x="8817507" y="4433455"/>
            <a:ext cx="2972058" cy="1123718"/>
          </a:xfrm>
          <a:prstGeom prst="rect">
            <a:avLst/>
          </a:prstGeom>
        </p:spPr>
      </p:pic>
    </p:spTree>
    <p:extLst>
      <p:ext uri="{BB962C8B-B14F-4D97-AF65-F5344CB8AC3E}">
        <p14:creationId xmlns:p14="http://schemas.microsoft.com/office/powerpoint/2010/main" val="31671327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Classification border tuning</a:t>
            </a:r>
            <a:endParaRPr lang="ru-RU" dirty="0"/>
          </a:p>
        </p:txBody>
      </p:sp>
      <p:sp>
        <p:nvSpPr>
          <p:cNvPr id="3" name="Объект 2"/>
          <p:cNvSpPr>
            <a:spLocks noGrp="1"/>
          </p:cNvSpPr>
          <p:nvPr>
            <p:ph idx="1"/>
          </p:nvPr>
        </p:nvSpPr>
        <p:spPr>
          <a:xfrm>
            <a:off x="838199" y="1825625"/>
            <a:ext cx="5396345" cy="4351338"/>
          </a:xfrm>
        </p:spPr>
        <p:txBody>
          <a:bodyPr/>
          <a:lstStyle/>
          <a:p>
            <a:r>
              <a:rPr lang="en-US" dirty="0" smtClean="0"/>
              <a:t>For this we simply look carefully into the graph of ROC-AUC or PR-AUC and choose the value of border in classification to receive the certain metrics we need.</a:t>
            </a:r>
          </a:p>
          <a:p>
            <a:r>
              <a:rPr lang="en-US" dirty="0" smtClean="0"/>
              <a:t>This is flexible method as we can focus Precision or Recall</a:t>
            </a:r>
          </a:p>
          <a:p>
            <a:r>
              <a:rPr lang="en-US" dirty="0" smtClean="0"/>
              <a:t>In this case, the optimal border for f1-score is 0.68</a:t>
            </a:r>
            <a:endParaRPr lang="ru-RU" dirty="0"/>
          </a:p>
        </p:txBody>
      </p:sp>
      <p:pic>
        <p:nvPicPr>
          <p:cNvPr id="4" name="Рисунок 3"/>
          <p:cNvPicPr>
            <a:picLocks noChangeAspect="1"/>
          </p:cNvPicPr>
          <p:nvPr/>
        </p:nvPicPr>
        <p:blipFill>
          <a:blip r:embed="rId2"/>
          <a:stretch>
            <a:fillRect/>
          </a:stretch>
        </p:blipFill>
        <p:spPr>
          <a:xfrm>
            <a:off x="7084291" y="1825625"/>
            <a:ext cx="4269509" cy="4369674"/>
          </a:xfrm>
          <a:prstGeom prst="rect">
            <a:avLst/>
          </a:prstGeom>
        </p:spPr>
      </p:pic>
    </p:spTree>
    <p:extLst>
      <p:ext uri="{BB962C8B-B14F-4D97-AF65-F5344CB8AC3E}">
        <p14:creationId xmlns:p14="http://schemas.microsoft.com/office/powerpoint/2010/main" val="32355408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Target encoding</a:t>
            </a:r>
            <a:endParaRPr lang="ru-RU" dirty="0"/>
          </a:p>
        </p:txBody>
      </p:sp>
      <p:sp>
        <p:nvSpPr>
          <p:cNvPr id="3" name="Объект 2"/>
          <p:cNvSpPr>
            <a:spLocks noGrp="1"/>
          </p:cNvSpPr>
          <p:nvPr>
            <p:ph idx="1"/>
          </p:nvPr>
        </p:nvSpPr>
        <p:spPr/>
        <p:txBody>
          <a:bodyPr/>
          <a:lstStyle/>
          <a:p>
            <a:r>
              <a:rPr lang="en-US" dirty="0" smtClean="0"/>
              <a:t>This method converts </a:t>
            </a:r>
            <a:r>
              <a:rPr lang="en-US" dirty="0"/>
              <a:t>categorical variables into numerical ones by replacing each category with a summary statistic, usually the mean, of the target variable for that </a:t>
            </a:r>
            <a:r>
              <a:rPr lang="en-US" dirty="0" smtClean="0"/>
              <a:t>category </a:t>
            </a:r>
            <a:r>
              <a:rPr lang="en-US" sz="1400" dirty="0" smtClean="0"/>
              <a:t>[9]</a:t>
            </a:r>
            <a:endParaRPr lang="en-US" sz="1600" dirty="0" smtClean="0"/>
          </a:p>
          <a:p>
            <a:pPr marL="0" indent="0">
              <a:buNone/>
            </a:pPr>
            <a:endParaRPr lang="en-US" dirty="0" smtClean="0"/>
          </a:p>
          <a:p>
            <a:pPr marL="0" indent="0">
              <a:buNone/>
            </a:pPr>
            <a:r>
              <a:rPr lang="en-US" dirty="0" smtClean="0"/>
              <a:t>It didn’t improve results significantly</a:t>
            </a:r>
          </a:p>
          <a:p>
            <a:pPr marL="0" indent="0">
              <a:buNone/>
            </a:pPr>
            <a:r>
              <a:rPr lang="en-US" dirty="0"/>
              <a:t>c</a:t>
            </a:r>
            <a:r>
              <a:rPr lang="en-US" dirty="0" smtClean="0"/>
              <a:t>omparing to previous methods</a:t>
            </a:r>
            <a:endParaRPr lang="ru-RU" dirty="0"/>
          </a:p>
        </p:txBody>
      </p:sp>
      <p:pic>
        <p:nvPicPr>
          <p:cNvPr id="4" name="Рисунок 3"/>
          <p:cNvPicPr>
            <a:picLocks noChangeAspect="1"/>
          </p:cNvPicPr>
          <p:nvPr/>
        </p:nvPicPr>
        <p:blipFill>
          <a:blip r:embed="rId3"/>
          <a:stretch>
            <a:fillRect/>
          </a:stretch>
        </p:blipFill>
        <p:spPr>
          <a:xfrm>
            <a:off x="838200" y="4988140"/>
            <a:ext cx="7361558" cy="1188823"/>
          </a:xfrm>
          <a:prstGeom prst="rect">
            <a:avLst/>
          </a:prstGeom>
        </p:spPr>
      </p:pic>
      <p:pic>
        <p:nvPicPr>
          <p:cNvPr id="6" name="Рисунок 5"/>
          <p:cNvPicPr>
            <a:picLocks noChangeAspect="1"/>
          </p:cNvPicPr>
          <p:nvPr/>
        </p:nvPicPr>
        <p:blipFill>
          <a:blip r:embed="rId4"/>
          <a:stretch>
            <a:fillRect/>
          </a:stretch>
        </p:blipFill>
        <p:spPr>
          <a:xfrm>
            <a:off x="8199758" y="4988140"/>
            <a:ext cx="2972058" cy="1196444"/>
          </a:xfrm>
          <a:prstGeom prst="rect">
            <a:avLst/>
          </a:prstGeom>
        </p:spPr>
      </p:pic>
      <p:pic>
        <p:nvPicPr>
          <p:cNvPr id="7" name="Рисунок 6"/>
          <p:cNvPicPr>
            <a:picLocks noChangeAspect="1"/>
          </p:cNvPicPr>
          <p:nvPr/>
        </p:nvPicPr>
        <p:blipFill>
          <a:blip r:embed="rId5"/>
          <a:stretch>
            <a:fillRect/>
          </a:stretch>
        </p:blipFill>
        <p:spPr>
          <a:xfrm>
            <a:off x="6603242" y="3149730"/>
            <a:ext cx="4568574" cy="1830789"/>
          </a:xfrm>
          <a:prstGeom prst="rect">
            <a:avLst/>
          </a:prstGeom>
        </p:spPr>
      </p:pic>
    </p:spTree>
    <p:extLst>
      <p:ext uri="{BB962C8B-B14F-4D97-AF65-F5344CB8AC3E}">
        <p14:creationId xmlns:p14="http://schemas.microsoft.com/office/powerpoint/2010/main" val="4054182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marL="514350" indent="-514350"/>
            <a:r>
              <a:rPr lang="en-US" dirty="0" smtClean="0"/>
              <a:t>Stacking + </a:t>
            </a:r>
            <a:r>
              <a:rPr lang="en-US" dirty="0" err="1" smtClean="0"/>
              <a:t>Optuna</a:t>
            </a:r>
            <a:endParaRPr lang="en-US" dirty="0"/>
          </a:p>
        </p:txBody>
      </p:sp>
      <p:sp>
        <p:nvSpPr>
          <p:cNvPr id="3" name="Объект 2"/>
          <p:cNvSpPr>
            <a:spLocks noGrp="1"/>
          </p:cNvSpPr>
          <p:nvPr>
            <p:ph idx="1"/>
          </p:nvPr>
        </p:nvSpPr>
        <p:spPr/>
        <p:txBody>
          <a:bodyPr>
            <a:normAutofit/>
          </a:bodyPr>
          <a:lstStyle/>
          <a:p>
            <a:r>
              <a:rPr lang="en-US" sz="2400" dirty="0" smtClean="0"/>
              <a:t>In this part I used two major techniques in ML – Stacking and Parameter tuning.</a:t>
            </a:r>
          </a:p>
          <a:p>
            <a:r>
              <a:rPr lang="en-US" sz="2400" dirty="0" smtClean="0"/>
              <a:t>Stacking - </a:t>
            </a:r>
            <a:r>
              <a:rPr lang="en-US" sz="2400" dirty="0"/>
              <a:t>is an ensemble learning technique in machine learning that combines the predictions of multiple diverse models (called base learners or level-0 models) to create a more robust and accurate final prediction. This is achieved by training a "meta-model" (or level-1 model) on the outputs of the base learners</a:t>
            </a:r>
            <a:r>
              <a:rPr lang="en-US" sz="2400" dirty="0" smtClean="0"/>
              <a:t>. In my case there are </a:t>
            </a:r>
            <a:r>
              <a:rPr lang="en-US" sz="2400" dirty="0" err="1" smtClean="0"/>
              <a:t>XGBoost</a:t>
            </a:r>
            <a:r>
              <a:rPr lang="en-US" sz="2400" dirty="0" smtClean="0"/>
              <a:t>, </a:t>
            </a:r>
            <a:r>
              <a:rPr lang="en-US" sz="2400" dirty="0" err="1" smtClean="0"/>
              <a:t>LightGBM</a:t>
            </a:r>
            <a:r>
              <a:rPr lang="en-US" sz="2400" dirty="0" smtClean="0"/>
              <a:t> and </a:t>
            </a:r>
            <a:r>
              <a:rPr lang="en-US" sz="2400" dirty="0"/>
              <a:t>R</a:t>
            </a:r>
            <a:r>
              <a:rPr lang="en-US" sz="2400" dirty="0" smtClean="0"/>
              <a:t>andom Forest </a:t>
            </a:r>
            <a:r>
              <a:rPr lang="en-US" sz="1200" dirty="0" smtClean="0"/>
              <a:t>[10]</a:t>
            </a:r>
          </a:p>
          <a:p>
            <a:r>
              <a:rPr lang="en-US" sz="2400" dirty="0"/>
              <a:t> </a:t>
            </a:r>
            <a:r>
              <a:rPr lang="en-US" sz="2400" dirty="0" smtClean="0"/>
              <a:t>Parameter tuning (</a:t>
            </a:r>
            <a:r>
              <a:rPr lang="en-US" sz="2400" dirty="0" err="1" smtClean="0"/>
              <a:t>Optuna</a:t>
            </a:r>
            <a:r>
              <a:rPr lang="en-US" sz="2400" dirty="0" smtClean="0"/>
              <a:t>) - an open-source </a:t>
            </a:r>
            <a:r>
              <a:rPr lang="en-US" sz="2400" dirty="0" err="1" smtClean="0"/>
              <a:t>hyperparameter</a:t>
            </a:r>
            <a:r>
              <a:rPr lang="en-US" sz="2400" dirty="0" smtClean="0"/>
              <a:t> tuning framework that automates the process of finding the best settings for machine learning models by efficiently searching for optimal </a:t>
            </a:r>
            <a:r>
              <a:rPr lang="en-US" sz="2400" dirty="0" err="1" smtClean="0"/>
              <a:t>hyperparameter</a:t>
            </a:r>
            <a:r>
              <a:rPr lang="en-US" sz="2400" dirty="0" smtClean="0"/>
              <a:t> values. </a:t>
            </a:r>
            <a:r>
              <a:rPr lang="en-US" sz="1200" dirty="0" smtClean="0"/>
              <a:t>[10]</a:t>
            </a:r>
            <a:endParaRPr lang="ru-RU" sz="1200" dirty="0"/>
          </a:p>
        </p:txBody>
      </p:sp>
    </p:spTree>
    <p:extLst>
      <p:ext uri="{BB962C8B-B14F-4D97-AF65-F5344CB8AC3E}">
        <p14:creationId xmlns:p14="http://schemas.microsoft.com/office/powerpoint/2010/main" val="13081764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r>
              <a:rPr lang="en-US" dirty="0" smtClean="0"/>
              <a:t>Stacking + </a:t>
            </a:r>
            <a:r>
              <a:rPr lang="en-US" dirty="0" err="1" smtClean="0"/>
              <a:t>Optuna</a:t>
            </a:r>
            <a:r>
              <a:rPr lang="en-US" dirty="0" smtClean="0"/>
              <a:t> (continue)</a:t>
            </a:r>
            <a:r>
              <a:rPr lang="en-US" dirty="0"/>
              <a:t/>
            </a:r>
            <a:br>
              <a:rPr lang="en-US" dirty="0"/>
            </a:br>
            <a:r>
              <a:rPr lang="en-US" sz="1800" dirty="0" smtClean="0"/>
              <a:t>Output result that turned out to be the best</a:t>
            </a:r>
            <a:endParaRPr lang="ru-RU" dirty="0"/>
          </a:p>
        </p:txBody>
      </p:sp>
      <p:pic>
        <p:nvPicPr>
          <p:cNvPr id="4" name="Объект 3"/>
          <p:cNvPicPr>
            <a:picLocks noGrp="1" noChangeAspect="1"/>
          </p:cNvPicPr>
          <p:nvPr>
            <p:ph idx="1"/>
          </p:nvPr>
        </p:nvPicPr>
        <p:blipFill>
          <a:blip r:embed="rId2"/>
          <a:stretch>
            <a:fillRect/>
          </a:stretch>
        </p:blipFill>
        <p:spPr>
          <a:xfrm>
            <a:off x="838200" y="1690688"/>
            <a:ext cx="3443425" cy="4351338"/>
          </a:xfrm>
          <a:prstGeom prst="rect">
            <a:avLst/>
          </a:prstGeom>
        </p:spPr>
      </p:pic>
      <p:pic>
        <p:nvPicPr>
          <p:cNvPr id="5" name="Рисунок 4"/>
          <p:cNvPicPr>
            <a:picLocks noChangeAspect="1"/>
          </p:cNvPicPr>
          <p:nvPr/>
        </p:nvPicPr>
        <p:blipFill>
          <a:blip r:embed="rId3"/>
          <a:stretch>
            <a:fillRect/>
          </a:stretch>
        </p:blipFill>
        <p:spPr>
          <a:xfrm>
            <a:off x="4281625" y="1721112"/>
            <a:ext cx="6820491" cy="3127979"/>
          </a:xfrm>
          <a:prstGeom prst="rect">
            <a:avLst/>
          </a:prstGeom>
        </p:spPr>
      </p:pic>
      <p:pic>
        <p:nvPicPr>
          <p:cNvPr id="6" name="Рисунок 5"/>
          <p:cNvPicPr>
            <a:picLocks noChangeAspect="1"/>
          </p:cNvPicPr>
          <p:nvPr/>
        </p:nvPicPr>
        <p:blipFill>
          <a:blip r:embed="rId4"/>
          <a:stretch>
            <a:fillRect/>
          </a:stretch>
        </p:blipFill>
        <p:spPr>
          <a:xfrm>
            <a:off x="4281625" y="4849091"/>
            <a:ext cx="3025402" cy="1242168"/>
          </a:xfrm>
          <a:prstGeom prst="rect">
            <a:avLst/>
          </a:prstGeom>
        </p:spPr>
      </p:pic>
    </p:spTree>
    <p:extLst>
      <p:ext uri="{BB962C8B-B14F-4D97-AF65-F5344CB8AC3E}">
        <p14:creationId xmlns:p14="http://schemas.microsoft.com/office/powerpoint/2010/main" val="21114092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Deep Learning</a:t>
            </a:r>
            <a:endParaRPr lang="ru-RU" dirty="0"/>
          </a:p>
        </p:txBody>
      </p:sp>
      <p:sp>
        <p:nvSpPr>
          <p:cNvPr id="3" name="Объект 2"/>
          <p:cNvSpPr>
            <a:spLocks noGrp="1"/>
          </p:cNvSpPr>
          <p:nvPr>
            <p:ph idx="1"/>
          </p:nvPr>
        </p:nvSpPr>
        <p:spPr/>
        <p:txBody>
          <a:bodyPr/>
          <a:lstStyle/>
          <a:p>
            <a:r>
              <a:rPr lang="en-US" dirty="0" smtClean="0"/>
              <a:t>After using Classic ML techniques I stopped at boundary of </a:t>
            </a:r>
          </a:p>
          <a:p>
            <a:pPr marL="0" indent="0">
              <a:buNone/>
            </a:pPr>
            <a:r>
              <a:rPr lang="en-US" dirty="0" smtClean="0"/>
              <a:t>accuracy = 93, precision = 95-96, and most important – recall ~86</a:t>
            </a:r>
          </a:p>
          <a:p>
            <a:pPr marL="0" indent="0">
              <a:buNone/>
            </a:pPr>
            <a:r>
              <a:rPr lang="en-US" dirty="0" smtClean="0"/>
              <a:t>The last method that is left to use is data augmentation, to do this I will use Generative Neural Networks:</a:t>
            </a:r>
          </a:p>
          <a:p>
            <a:pPr marL="514350" indent="-514350">
              <a:buAutoNum type="arabicParenR"/>
            </a:pPr>
            <a:r>
              <a:rPr lang="en-US" dirty="0" smtClean="0"/>
              <a:t>GAN</a:t>
            </a:r>
          </a:p>
          <a:p>
            <a:pPr marL="514350" indent="-514350">
              <a:buAutoNum type="arabicParenR"/>
            </a:pPr>
            <a:r>
              <a:rPr lang="en-US" dirty="0" smtClean="0"/>
              <a:t>VAE</a:t>
            </a:r>
          </a:p>
          <a:p>
            <a:pPr marL="514350" indent="-514350">
              <a:buAutoNum type="arabicParenR"/>
            </a:pPr>
            <a:r>
              <a:rPr lang="en-US" dirty="0" smtClean="0"/>
              <a:t>Diffusion</a:t>
            </a:r>
            <a:endParaRPr lang="ru-RU" dirty="0"/>
          </a:p>
        </p:txBody>
      </p:sp>
    </p:spTree>
    <p:extLst>
      <p:ext uri="{BB962C8B-B14F-4D97-AF65-F5344CB8AC3E}">
        <p14:creationId xmlns:p14="http://schemas.microsoft.com/office/powerpoint/2010/main" val="1800303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245052"/>
            <a:ext cx="10515600" cy="1325563"/>
          </a:xfrm>
        </p:spPr>
        <p:txBody>
          <a:bodyPr/>
          <a:lstStyle/>
          <a:p>
            <a:r>
              <a:rPr lang="en-US" dirty="0" smtClean="0"/>
              <a:t>GAN (theory)</a:t>
            </a:r>
            <a:endParaRPr lang="ru-RU" dirty="0"/>
          </a:p>
        </p:txBody>
      </p:sp>
      <p:sp>
        <p:nvSpPr>
          <p:cNvPr id="3" name="Объект 2"/>
          <p:cNvSpPr>
            <a:spLocks noGrp="1"/>
          </p:cNvSpPr>
          <p:nvPr>
            <p:ph idx="1"/>
          </p:nvPr>
        </p:nvSpPr>
        <p:spPr>
          <a:xfrm>
            <a:off x="838200" y="1302327"/>
            <a:ext cx="10515600" cy="4874636"/>
          </a:xfrm>
        </p:spPr>
        <p:txBody>
          <a:bodyPr>
            <a:normAutofit/>
          </a:bodyPr>
          <a:lstStyle/>
          <a:p>
            <a:r>
              <a:rPr lang="en-US" sz="2000" i="1" dirty="0" smtClean="0"/>
              <a:t>GAN is a deep learning model consisting of two neural networks competing with each other:</a:t>
            </a:r>
            <a:endParaRPr lang="ru-RU" sz="2000" i="1" dirty="0" smtClean="0"/>
          </a:p>
          <a:p>
            <a:r>
              <a:rPr lang="en-US" sz="1800" dirty="0" smtClean="0"/>
              <a:t>Generator (G) – creates new data (from noise).</a:t>
            </a:r>
            <a:endParaRPr lang="ru-RU" sz="1800" dirty="0" smtClean="0"/>
          </a:p>
          <a:p>
            <a:r>
              <a:rPr lang="en-US" sz="1800" dirty="0" smtClean="0"/>
              <a:t>Discriminator (D) – distinguishes real data from generated data</a:t>
            </a:r>
            <a:endParaRPr lang="ru-RU" sz="1800" dirty="0" smtClean="0"/>
          </a:p>
          <a:p>
            <a:r>
              <a:rPr lang="en-US" sz="2000" i="1" dirty="0" smtClean="0"/>
              <a:t>Learning occurs like a game:</a:t>
            </a:r>
            <a:r>
              <a:rPr lang="ru-RU" sz="2000" i="1" dirty="0" smtClean="0"/>
              <a:t> </a:t>
            </a:r>
          </a:p>
          <a:p>
            <a:r>
              <a:rPr lang="en-US" sz="2000" dirty="0" smtClean="0"/>
              <a:t>G tries to fool D, while D tries to resist.</a:t>
            </a:r>
            <a:r>
              <a:rPr lang="ru-RU" sz="2000" dirty="0" smtClean="0"/>
              <a:t> </a:t>
            </a:r>
            <a:r>
              <a:rPr lang="en-US" sz="2000" dirty="0" smtClean="0"/>
              <a:t>Ultimately, G learns to generate realistic data</a:t>
            </a:r>
            <a:r>
              <a:rPr lang="en-US" sz="1800" dirty="0" smtClean="0"/>
              <a:t>. </a:t>
            </a:r>
            <a:r>
              <a:rPr lang="en-US" sz="1100" dirty="0" smtClean="0"/>
              <a:t>[4]</a:t>
            </a:r>
          </a:p>
          <a:p>
            <a:endParaRPr lang="en-US" sz="1800" dirty="0" smtClean="0"/>
          </a:p>
        </p:txBody>
      </p:sp>
      <p:pic>
        <p:nvPicPr>
          <p:cNvPr id="4" name="Рисунок 3"/>
          <p:cNvPicPr>
            <a:picLocks noChangeAspect="1"/>
          </p:cNvPicPr>
          <p:nvPr/>
        </p:nvPicPr>
        <p:blipFill>
          <a:blip r:embed="rId2"/>
          <a:stretch>
            <a:fillRect/>
          </a:stretch>
        </p:blipFill>
        <p:spPr>
          <a:xfrm>
            <a:off x="838200" y="4056185"/>
            <a:ext cx="5959356" cy="2255715"/>
          </a:xfrm>
          <a:prstGeom prst="rect">
            <a:avLst/>
          </a:prstGeom>
        </p:spPr>
      </p:pic>
      <p:pic>
        <p:nvPicPr>
          <p:cNvPr id="5" name="Рисунок 4"/>
          <p:cNvPicPr>
            <a:picLocks noChangeAspect="1"/>
          </p:cNvPicPr>
          <p:nvPr/>
        </p:nvPicPr>
        <p:blipFill>
          <a:blip r:embed="rId3"/>
          <a:stretch>
            <a:fillRect/>
          </a:stretch>
        </p:blipFill>
        <p:spPr>
          <a:xfrm>
            <a:off x="898710" y="3457154"/>
            <a:ext cx="5197290" cy="304826"/>
          </a:xfrm>
          <a:prstGeom prst="rect">
            <a:avLst/>
          </a:prstGeom>
        </p:spPr>
      </p:pic>
      <p:pic>
        <p:nvPicPr>
          <p:cNvPr id="6" name="Рисунок 5"/>
          <p:cNvPicPr>
            <a:picLocks noChangeAspect="1"/>
          </p:cNvPicPr>
          <p:nvPr/>
        </p:nvPicPr>
        <p:blipFill>
          <a:blip r:embed="rId4"/>
          <a:stretch>
            <a:fillRect/>
          </a:stretch>
        </p:blipFill>
        <p:spPr>
          <a:xfrm>
            <a:off x="6991427" y="3457154"/>
            <a:ext cx="4168501" cy="2854746"/>
          </a:xfrm>
          <a:prstGeom prst="rect">
            <a:avLst/>
          </a:prstGeom>
        </p:spPr>
      </p:pic>
    </p:spTree>
    <p:extLst>
      <p:ext uri="{BB962C8B-B14F-4D97-AF65-F5344CB8AC3E}">
        <p14:creationId xmlns:p14="http://schemas.microsoft.com/office/powerpoint/2010/main" val="3950869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Прямоугольник 76"/>
          <p:cNvSpPr/>
          <p:nvPr/>
        </p:nvSpPr>
        <p:spPr>
          <a:xfrm>
            <a:off x="4147148" y="1203218"/>
            <a:ext cx="4774975" cy="2194070"/>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a:xfrm>
            <a:off x="478104" y="133135"/>
            <a:ext cx="4066309" cy="743239"/>
          </a:xfrm>
        </p:spPr>
        <p:txBody>
          <a:bodyPr/>
          <a:lstStyle/>
          <a:p>
            <a:r>
              <a:rPr lang="en-US" dirty="0"/>
              <a:t>GAN (realization)</a:t>
            </a:r>
            <a:endParaRPr lang="ru-RU" dirty="0"/>
          </a:p>
        </p:txBody>
      </p:sp>
      <p:sp>
        <p:nvSpPr>
          <p:cNvPr id="3" name="Прямоугольник 2"/>
          <p:cNvSpPr/>
          <p:nvPr/>
        </p:nvSpPr>
        <p:spPr>
          <a:xfrm>
            <a:off x="777490" y="2712865"/>
            <a:ext cx="1634837" cy="6373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Box 3"/>
          <p:cNvSpPr txBox="1"/>
          <p:nvPr/>
        </p:nvSpPr>
        <p:spPr>
          <a:xfrm>
            <a:off x="822910" y="2708353"/>
            <a:ext cx="1461655" cy="646331"/>
          </a:xfrm>
          <a:prstGeom prst="rect">
            <a:avLst/>
          </a:prstGeom>
          <a:noFill/>
        </p:spPr>
        <p:txBody>
          <a:bodyPr wrap="square" rtlCol="0">
            <a:spAutoFit/>
          </a:bodyPr>
          <a:lstStyle/>
          <a:p>
            <a:pPr algn="ctr"/>
            <a:r>
              <a:rPr lang="en-US" dirty="0" smtClean="0"/>
              <a:t>Input (</a:t>
            </a:r>
            <a:r>
              <a:rPr lang="en-US" dirty="0" err="1" smtClean="0"/>
              <a:t>x_minority</a:t>
            </a:r>
            <a:r>
              <a:rPr lang="en-US" dirty="0" smtClean="0"/>
              <a:t>)</a:t>
            </a:r>
            <a:endParaRPr lang="ru-RU" dirty="0"/>
          </a:p>
        </p:txBody>
      </p:sp>
      <p:cxnSp>
        <p:nvCxnSpPr>
          <p:cNvPr id="6" name="Прямая со стрелкой 5"/>
          <p:cNvCxnSpPr>
            <a:stCxn id="3" idx="3"/>
          </p:cNvCxnSpPr>
          <p:nvPr/>
        </p:nvCxnSpPr>
        <p:spPr>
          <a:xfrm flipV="1">
            <a:off x="2412327" y="3031519"/>
            <a:ext cx="1923531"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 name="Овал 8"/>
          <p:cNvSpPr/>
          <p:nvPr/>
        </p:nvSpPr>
        <p:spPr>
          <a:xfrm>
            <a:off x="2460110" y="2356438"/>
            <a:ext cx="1639255" cy="60466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 name="TextBox 9"/>
          <p:cNvSpPr txBox="1"/>
          <p:nvPr/>
        </p:nvSpPr>
        <p:spPr>
          <a:xfrm>
            <a:off x="2365730" y="2391480"/>
            <a:ext cx="1834807" cy="430887"/>
          </a:xfrm>
          <a:prstGeom prst="rect">
            <a:avLst/>
          </a:prstGeom>
          <a:noFill/>
        </p:spPr>
        <p:txBody>
          <a:bodyPr wrap="square" rtlCol="0">
            <a:spAutoFit/>
          </a:bodyPr>
          <a:lstStyle/>
          <a:p>
            <a:pPr algn="ctr"/>
            <a:r>
              <a:rPr lang="en-US" sz="1000" dirty="0" smtClean="0"/>
              <a:t>Latent space</a:t>
            </a:r>
          </a:p>
          <a:p>
            <a:pPr algn="ctr"/>
            <a:r>
              <a:rPr lang="en-US" sz="1200" dirty="0" smtClean="0"/>
              <a:t>Z</a:t>
            </a:r>
            <a:r>
              <a:rPr lang="en-US" sz="800" dirty="0" smtClean="0"/>
              <a:t>[batch, </a:t>
            </a:r>
            <a:r>
              <a:rPr lang="en-US" sz="800" dirty="0" err="1" smtClean="0"/>
              <a:t>latent_dim</a:t>
            </a:r>
            <a:r>
              <a:rPr lang="en-US" sz="800" dirty="0" smtClean="0"/>
              <a:t>]~</a:t>
            </a:r>
            <a:r>
              <a:rPr lang="en-US" sz="1200" dirty="0" smtClean="0"/>
              <a:t>N</a:t>
            </a:r>
            <a:r>
              <a:rPr lang="en-US" sz="800" dirty="0" smtClean="0"/>
              <a:t>(0, 1)</a:t>
            </a:r>
            <a:endParaRPr lang="ru-RU" sz="800" dirty="0"/>
          </a:p>
        </p:txBody>
      </p:sp>
      <p:sp>
        <p:nvSpPr>
          <p:cNvPr id="11" name="TextBox 10"/>
          <p:cNvSpPr txBox="1"/>
          <p:nvPr/>
        </p:nvSpPr>
        <p:spPr>
          <a:xfrm>
            <a:off x="5901340" y="1187850"/>
            <a:ext cx="1431636" cy="369332"/>
          </a:xfrm>
          <a:prstGeom prst="rect">
            <a:avLst/>
          </a:prstGeom>
          <a:noFill/>
        </p:spPr>
        <p:txBody>
          <a:bodyPr wrap="square" rtlCol="0">
            <a:spAutoFit/>
          </a:bodyPr>
          <a:lstStyle/>
          <a:p>
            <a:r>
              <a:rPr lang="en-US" dirty="0" smtClean="0"/>
              <a:t>GAN training</a:t>
            </a:r>
            <a:endParaRPr lang="ru-RU" dirty="0"/>
          </a:p>
        </p:txBody>
      </p:sp>
      <p:sp>
        <p:nvSpPr>
          <p:cNvPr id="29" name="Скругленный прямоугольник 28"/>
          <p:cNvSpPr/>
          <p:nvPr/>
        </p:nvSpPr>
        <p:spPr>
          <a:xfrm>
            <a:off x="4335858" y="2883235"/>
            <a:ext cx="951345" cy="27037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Box 29"/>
          <p:cNvSpPr txBox="1"/>
          <p:nvPr/>
        </p:nvSpPr>
        <p:spPr>
          <a:xfrm>
            <a:off x="4359665" y="2893018"/>
            <a:ext cx="1541675" cy="276999"/>
          </a:xfrm>
          <a:prstGeom prst="rect">
            <a:avLst/>
          </a:prstGeom>
          <a:noFill/>
        </p:spPr>
        <p:txBody>
          <a:bodyPr wrap="square" rtlCol="0">
            <a:spAutoFit/>
          </a:bodyPr>
          <a:lstStyle/>
          <a:p>
            <a:r>
              <a:rPr lang="en-US" sz="1200" dirty="0" smtClean="0"/>
              <a:t>Generator</a:t>
            </a:r>
            <a:endParaRPr lang="ru-RU" sz="1200" dirty="0"/>
          </a:p>
        </p:txBody>
      </p:sp>
      <p:cxnSp>
        <p:nvCxnSpPr>
          <p:cNvPr id="32" name="Прямая со стрелкой 31"/>
          <p:cNvCxnSpPr>
            <a:endCxn id="30" idx="3"/>
          </p:cNvCxnSpPr>
          <p:nvPr/>
        </p:nvCxnSpPr>
        <p:spPr>
          <a:xfrm>
            <a:off x="5287203" y="3031517"/>
            <a:ext cx="61413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4" name="Овал 33"/>
          <p:cNvSpPr/>
          <p:nvPr/>
        </p:nvSpPr>
        <p:spPr>
          <a:xfrm>
            <a:off x="5903874" y="2813498"/>
            <a:ext cx="1554266" cy="43566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5" name="TextBox 34"/>
          <p:cNvSpPr txBox="1"/>
          <p:nvPr/>
        </p:nvSpPr>
        <p:spPr>
          <a:xfrm>
            <a:off x="5908770" y="2810585"/>
            <a:ext cx="1565184" cy="400110"/>
          </a:xfrm>
          <a:prstGeom prst="rect">
            <a:avLst/>
          </a:prstGeom>
          <a:noFill/>
        </p:spPr>
        <p:txBody>
          <a:bodyPr wrap="square" rtlCol="0">
            <a:spAutoFit/>
          </a:bodyPr>
          <a:lstStyle/>
          <a:p>
            <a:pPr algn="ctr"/>
            <a:r>
              <a:rPr lang="en-US" sz="1200" dirty="0" err="1" smtClean="0"/>
              <a:t>X_synthetic</a:t>
            </a:r>
            <a:endParaRPr lang="en-US" sz="1200" dirty="0" smtClean="0"/>
          </a:p>
          <a:p>
            <a:pPr algn="ctr"/>
            <a:r>
              <a:rPr lang="en-US" sz="800" dirty="0"/>
              <a:t>[</a:t>
            </a:r>
            <a:r>
              <a:rPr lang="en-US" sz="800" dirty="0" err="1"/>
              <a:t>n_to_generate</a:t>
            </a:r>
            <a:r>
              <a:rPr lang="en-US" sz="800" dirty="0"/>
              <a:t>, </a:t>
            </a:r>
            <a:r>
              <a:rPr lang="en-US" sz="800" dirty="0" err="1"/>
              <a:t>input_dim</a:t>
            </a:r>
            <a:r>
              <a:rPr lang="en-US" sz="800" dirty="0"/>
              <a:t>]</a:t>
            </a:r>
            <a:endParaRPr lang="ru-RU" sz="800" dirty="0"/>
          </a:p>
        </p:txBody>
      </p:sp>
      <p:cxnSp>
        <p:nvCxnSpPr>
          <p:cNvPr id="39" name="Прямая соединительная линия 38"/>
          <p:cNvCxnSpPr/>
          <p:nvPr/>
        </p:nvCxnSpPr>
        <p:spPr>
          <a:xfrm flipV="1">
            <a:off x="7447893" y="3036260"/>
            <a:ext cx="831615"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Прямая со стрелкой 40"/>
          <p:cNvCxnSpPr/>
          <p:nvPr/>
        </p:nvCxnSpPr>
        <p:spPr>
          <a:xfrm flipV="1">
            <a:off x="8275782" y="2284097"/>
            <a:ext cx="5873" cy="76390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Прямоугольник 43"/>
          <p:cNvSpPr/>
          <p:nvPr/>
        </p:nvSpPr>
        <p:spPr>
          <a:xfrm>
            <a:off x="6581134" y="1962552"/>
            <a:ext cx="806151" cy="33770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Box 44"/>
          <p:cNvSpPr txBox="1"/>
          <p:nvPr/>
        </p:nvSpPr>
        <p:spPr>
          <a:xfrm>
            <a:off x="6598477" y="2007098"/>
            <a:ext cx="1323387" cy="276999"/>
          </a:xfrm>
          <a:prstGeom prst="rect">
            <a:avLst/>
          </a:prstGeom>
          <a:noFill/>
        </p:spPr>
        <p:txBody>
          <a:bodyPr wrap="square" rtlCol="0">
            <a:spAutoFit/>
          </a:bodyPr>
          <a:lstStyle/>
          <a:p>
            <a:r>
              <a:rPr lang="en-US" sz="1200" dirty="0" smtClean="0"/>
              <a:t>Loss (BCE)</a:t>
            </a:r>
            <a:endParaRPr lang="ru-RU" sz="1200" dirty="0"/>
          </a:p>
        </p:txBody>
      </p:sp>
      <p:cxnSp>
        <p:nvCxnSpPr>
          <p:cNvPr id="49" name="Прямая со стрелкой 48"/>
          <p:cNvCxnSpPr/>
          <p:nvPr/>
        </p:nvCxnSpPr>
        <p:spPr>
          <a:xfrm flipH="1">
            <a:off x="7387285" y="2145597"/>
            <a:ext cx="3809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Прямоугольник 49"/>
          <p:cNvSpPr/>
          <p:nvPr/>
        </p:nvSpPr>
        <p:spPr>
          <a:xfrm>
            <a:off x="5307493" y="1757107"/>
            <a:ext cx="746772" cy="2841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1" name="Прямоугольник 50"/>
          <p:cNvSpPr/>
          <p:nvPr/>
        </p:nvSpPr>
        <p:spPr>
          <a:xfrm>
            <a:off x="5307493" y="2214351"/>
            <a:ext cx="746772" cy="2841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56" name="Соединительная линия уступом 55"/>
          <p:cNvCxnSpPr>
            <a:stCxn id="44" idx="0"/>
          </p:cNvCxnSpPr>
          <p:nvPr/>
        </p:nvCxnSpPr>
        <p:spPr>
          <a:xfrm rot="16200000" flipV="1">
            <a:off x="6495723" y="1474064"/>
            <a:ext cx="56185" cy="92079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Соединительная линия уступом 57"/>
          <p:cNvCxnSpPr>
            <a:stCxn id="44" idx="2"/>
            <a:endCxn id="51" idx="3"/>
          </p:cNvCxnSpPr>
          <p:nvPr/>
        </p:nvCxnSpPr>
        <p:spPr>
          <a:xfrm rot="5400000">
            <a:off x="6491146" y="1863373"/>
            <a:ext cx="56185" cy="929945"/>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Соединительная линия уступом 70"/>
          <p:cNvCxnSpPr>
            <a:stCxn id="51" idx="1"/>
            <a:endCxn id="29" idx="0"/>
          </p:cNvCxnSpPr>
          <p:nvPr/>
        </p:nvCxnSpPr>
        <p:spPr>
          <a:xfrm rot="10800000" flipV="1">
            <a:off x="4811531" y="2356437"/>
            <a:ext cx="495962" cy="52679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5405724" y="2238667"/>
            <a:ext cx="590946" cy="276999"/>
          </a:xfrm>
          <a:prstGeom prst="rect">
            <a:avLst/>
          </a:prstGeom>
          <a:noFill/>
        </p:spPr>
        <p:txBody>
          <a:bodyPr wrap="square" rtlCol="0">
            <a:spAutoFit/>
          </a:bodyPr>
          <a:lstStyle/>
          <a:p>
            <a:r>
              <a:rPr lang="en-US" sz="1200" dirty="0" smtClean="0"/>
              <a:t>GWU</a:t>
            </a:r>
            <a:endParaRPr lang="ru-RU" sz="1200" dirty="0"/>
          </a:p>
        </p:txBody>
      </p:sp>
      <p:sp>
        <p:nvSpPr>
          <p:cNvPr id="75" name="TextBox 74"/>
          <p:cNvSpPr txBox="1"/>
          <p:nvPr/>
        </p:nvSpPr>
        <p:spPr>
          <a:xfrm>
            <a:off x="5425978" y="1781423"/>
            <a:ext cx="637441" cy="276999"/>
          </a:xfrm>
          <a:prstGeom prst="rect">
            <a:avLst/>
          </a:prstGeom>
          <a:noFill/>
        </p:spPr>
        <p:txBody>
          <a:bodyPr wrap="square" rtlCol="0">
            <a:spAutoFit/>
          </a:bodyPr>
          <a:lstStyle/>
          <a:p>
            <a:r>
              <a:rPr lang="en-US" sz="1200" dirty="0" smtClean="0"/>
              <a:t>DWU</a:t>
            </a:r>
            <a:endParaRPr lang="ru-RU" sz="1200" dirty="0"/>
          </a:p>
        </p:txBody>
      </p:sp>
      <p:sp>
        <p:nvSpPr>
          <p:cNvPr id="76" name="TextBox 75"/>
          <p:cNvSpPr txBox="1"/>
          <p:nvPr/>
        </p:nvSpPr>
        <p:spPr>
          <a:xfrm>
            <a:off x="9078303" y="4813723"/>
            <a:ext cx="2604655" cy="1754326"/>
          </a:xfrm>
          <a:prstGeom prst="rect">
            <a:avLst/>
          </a:prstGeom>
          <a:noFill/>
        </p:spPr>
        <p:txBody>
          <a:bodyPr wrap="square" rtlCol="0">
            <a:spAutoFit/>
          </a:bodyPr>
          <a:lstStyle/>
          <a:p>
            <a:r>
              <a:rPr lang="en-US" sz="1200" dirty="0" smtClean="0"/>
              <a:t>DWU – Discriminator weights update</a:t>
            </a:r>
          </a:p>
          <a:p>
            <a:r>
              <a:rPr lang="en-US" sz="1200" dirty="0" smtClean="0"/>
              <a:t>GWU – Generator weights update</a:t>
            </a:r>
          </a:p>
          <a:p>
            <a:r>
              <a:rPr lang="en-US" sz="1200" dirty="0" smtClean="0"/>
              <a:t>Batch = 64</a:t>
            </a:r>
          </a:p>
          <a:p>
            <a:r>
              <a:rPr lang="en-US" sz="1200" dirty="0" err="1" smtClean="0"/>
              <a:t>Latent_dim</a:t>
            </a:r>
            <a:r>
              <a:rPr lang="en-US" sz="1200" dirty="0" smtClean="0"/>
              <a:t> = 32</a:t>
            </a:r>
          </a:p>
          <a:p>
            <a:r>
              <a:rPr lang="en-US" sz="1200" dirty="0" err="1" smtClean="0"/>
              <a:t>N_to_generate</a:t>
            </a:r>
            <a:r>
              <a:rPr lang="en-US" sz="1200" dirty="0" smtClean="0"/>
              <a:t> = 20000</a:t>
            </a:r>
          </a:p>
          <a:p>
            <a:r>
              <a:rPr lang="en-US" sz="1200" dirty="0" err="1" smtClean="0"/>
              <a:t>Input_dim</a:t>
            </a:r>
            <a:r>
              <a:rPr lang="en-US" sz="1200" dirty="0"/>
              <a:t> </a:t>
            </a:r>
            <a:r>
              <a:rPr lang="en-US" sz="1200" dirty="0" smtClean="0"/>
              <a:t>= 21</a:t>
            </a:r>
          </a:p>
          <a:p>
            <a:r>
              <a:rPr lang="en-US" sz="1200" dirty="0" err="1" smtClean="0"/>
              <a:t>X_minority</a:t>
            </a:r>
            <a:r>
              <a:rPr lang="en-US" sz="1200" dirty="0" smtClean="0"/>
              <a:t> = 8000</a:t>
            </a:r>
          </a:p>
          <a:p>
            <a:r>
              <a:rPr lang="en-US" sz="1200" dirty="0" err="1" smtClean="0"/>
              <a:t>X_majority</a:t>
            </a:r>
            <a:r>
              <a:rPr lang="en-US" sz="1200" dirty="0" smtClean="0"/>
              <a:t> = 28000</a:t>
            </a:r>
          </a:p>
          <a:p>
            <a:endParaRPr lang="ru-RU" sz="1200" dirty="0"/>
          </a:p>
        </p:txBody>
      </p:sp>
      <p:sp>
        <p:nvSpPr>
          <p:cNvPr id="26" name="TextBox 25"/>
          <p:cNvSpPr txBox="1"/>
          <p:nvPr/>
        </p:nvSpPr>
        <p:spPr>
          <a:xfrm>
            <a:off x="7760915" y="1997439"/>
            <a:ext cx="1054634" cy="276999"/>
          </a:xfrm>
          <a:prstGeom prst="rect">
            <a:avLst/>
          </a:prstGeom>
          <a:noFill/>
        </p:spPr>
        <p:txBody>
          <a:bodyPr wrap="square" rtlCol="0">
            <a:spAutoFit/>
          </a:bodyPr>
          <a:lstStyle/>
          <a:p>
            <a:r>
              <a:rPr lang="en-US" sz="1200" dirty="0" smtClean="0"/>
              <a:t>Discriminator</a:t>
            </a:r>
            <a:endParaRPr lang="ru-RU" sz="1200" dirty="0"/>
          </a:p>
        </p:txBody>
      </p:sp>
      <p:sp>
        <p:nvSpPr>
          <p:cNvPr id="27" name="Скругленный прямоугольник 26"/>
          <p:cNvSpPr/>
          <p:nvPr/>
        </p:nvSpPr>
        <p:spPr>
          <a:xfrm>
            <a:off x="7768245" y="2007098"/>
            <a:ext cx="1022527" cy="276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83" name="Прямая со стрелкой 82"/>
          <p:cNvCxnSpPr/>
          <p:nvPr/>
        </p:nvCxnSpPr>
        <p:spPr>
          <a:xfrm>
            <a:off x="1576286" y="3350174"/>
            <a:ext cx="2982" cy="70459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Соединительная линия уступом 84"/>
          <p:cNvCxnSpPr>
            <a:stCxn id="34" idx="4"/>
          </p:cNvCxnSpPr>
          <p:nvPr/>
        </p:nvCxnSpPr>
        <p:spPr>
          <a:xfrm rot="5400000">
            <a:off x="3734292" y="1201926"/>
            <a:ext cx="899475" cy="499395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1456363" y="3964160"/>
            <a:ext cx="138545" cy="369332"/>
          </a:xfrm>
          <a:prstGeom prst="rect">
            <a:avLst/>
          </a:prstGeom>
          <a:noFill/>
        </p:spPr>
        <p:txBody>
          <a:bodyPr wrap="square" rtlCol="0">
            <a:spAutoFit/>
          </a:bodyPr>
          <a:lstStyle/>
          <a:p>
            <a:r>
              <a:rPr lang="en-US" dirty="0" smtClean="0"/>
              <a:t>c</a:t>
            </a:r>
            <a:endParaRPr lang="ru-RU" dirty="0"/>
          </a:p>
        </p:txBody>
      </p:sp>
      <p:sp>
        <p:nvSpPr>
          <p:cNvPr id="87" name="Овал 86"/>
          <p:cNvSpPr/>
          <p:nvPr/>
        </p:nvSpPr>
        <p:spPr>
          <a:xfrm>
            <a:off x="1482430" y="4056462"/>
            <a:ext cx="200221" cy="18811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3" name="TextBox 92"/>
          <p:cNvSpPr txBox="1"/>
          <p:nvPr/>
        </p:nvSpPr>
        <p:spPr>
          <a:xfrm>
            <a:off x="7486317" y="5976983"/>
            <a:ext cx="490541" cy="369332"/>
          </a:xfrm>
          <a:prstGeom prst="rect">
            <a:avLst/>
          </a:prstGeom>
          <a:noFill/>
        </p:spPr>
        <p:txBody>
          <a:bodyPr wrap="square" rtlCol="0">
            <a:spAutoFit/>
          </a:bodyPr>
          <a:lstStyle/>
          <a:p>
            <a:r>
              <a:rPr lang="en-US" dirty="0" smtClean="0"/>
              <a:t>c</a:t>
            </a:r>
            <a:endParaRPr lang="ru-RU" dirty="0"/>
          </a:p>
        </p:txBody>
      </p:sp>
      <p:sp>
        <p:nvSpPr>
          <p:cNvPr id="97" name="TextBox 96"/>
          <p:cNvSpPr txBox="1"/>
          <p:nvPr/>
        </p:nvSpPr>
        <p:spPr>
          <a:xfrm>
            <a:off x="887359" y="5805394"/>
            <a:ext cx="1377854" cy="646331"/>
          </a:xfrm>
          <a:prstGeom prst="rect">
            <a:avLst/>
          </a:prstGeom>
          <a:noFill/>
        </p:spPr>
        <p:txBody>
          <a:bodyPr wrap="square" rtlCol="0">
            <a:spAutoFit/>
          </a:bodyPr>
          <a:lstStyle/>
          <a:p>
            <a:pPr algn="ctr"/>
            <a:r>
              <a:rPr lang="en-US" dirty="0" smtClean="0"/>
              <a:t>Input</a:t>
            </a:r>
          </a:p>
          <a:p>
            <a:pPr algn="ctr"/>
            <a:r>
              <a:rPr lang="en-US" dirty="0" smtClean="0"/>
              <a:t>(</a:t>
            </a:r>
            <a:r>
              <a:rPr lang="en-US" dirty="0" err="1" smtClean="0"/>
              <a:t>x_majority</a:t>
            </a:r>
            <a:r>
              <a:rPr lang="en-US" dirty="0" smtClean="0"/>
              <a:t>)</a:t>
            </a:r>
            <a:endParaRPr lang="ru-RU" dirty="0"/>
          </a:p>
        </p:txBody>
      </p:sp>
      <p:sp>
        <p:nvSpPr>
          <p:cNvPr id="98" name="Прямоугольник 97"/>
          <p:cNvSpPr/>
          <p:nvPr/>
        </p:nvSpPr>
        <p:spPr>
          <a:xfrm>
            <a:off x="768213" y="5810198"/>
            <a:ext cx="1634837" cy="637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0" name="Прямая со стрелкой 99"/>
          <p:cNvCxnSpPr>
            <a:stCxn id="87" idx="4"/>
            <a:endCxn id="111" idx="0"/>
          </p:cNvCxnSpPr>
          <p:nvPr/>
        </p:nvCxnSpPr>
        <p:spPr>
          <a:xfrm>
            <a:off x="1582541" y="4244572"/>
            <a:ext cx="6183" cy="62997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0" name="Прямая со стрелкой 109"/>
          <p:cNvCxnSpPr>
            <a:stCxn id="98" idx="0"/>
            <a:endCxn id="111" idx="4"/>
          </p:cNvCxnSpPr>
          <p:nvPr/>
        </p:nvCxnSpPr>
        <p:spPr>
          <a:xfrm flipV="1">
            <a:off x="1585632" y="5062654"/>
            <a:ext cx="3092" cy="74754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1" name="Овал 110"/>
          <p:cNvSpPr/>
          <p:nvPr/>
        </p:nvSpPr>
        <p:spPr>
          <a:xfrm>
            <a:off x="1488613" y="4874544"/>
            <a:ext cx="200221" cy="18811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2" name="TextBox 111"/>
          <p:cNvSpPr txBox="1"/>
          <p:nvPr/>
        </p:nvSpPr>
        <p:spPr>
          <a:xfrm>
            <a:off x="1456363" y="4780093"/>
            <a:ext cx="157016" cy="369332"/>
          </a:xfrm>
          <a:prstGeom prst="rect">
            <a:avLst/>
          </a:prstGeom>
          <a:noFill/>
        </p:spPr>
        <p:txBody>
          <a:bodyPr wrap="square" rtlCol="0">
            <a:spAutoFit/>
          </a:bodyPr>
          <a:lstStyle/>
          <a:p>
            <a:r>
              <a:rPr lang="en-US" dirty="0" smtClean="0"/>
              <a:t>c</a:t>
            </a:r>
            <a:endParaRPr lang="ru-RU" dirty="0"/>
          </a:p>
        </p:txBody>
      </p:sp>
      <p:cxnSp>
        <p:nvCxnSpPr>
          <p:cNvPr id="119" name="Прямая со стрелкой 118"/>
          <p:cNvCxnSpPr/>
          <p:nvPr/>
        </p:nvCxnSpPr>
        <p:spPr>
          <a:xfrm>
            <a:off x="1682651" y="4964759"/>
            <a:ext cx="984944"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1" name="Прямоугольник 120"/>
          <p:cNvSpPr/>
          <p:nvPr/>
        </p:nvSpPr>
        <p:spPr>
          <a:xfrm>
            <a:off x="2673982" y="4664497"/>
            <a:ext cx="1015436" cy="63730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3" name="TextBox 122"/>
          <p:cNvSpPr txBox="1"/>
          <p:nvPr/>
        </p:nvSpPr>
        <p:spPr>
          <a:xfrm>
            <a:off x="2610546" y="4685312"/>
            <a:ext cx="1150058" cy="646331"/>
          </a:xfrm>
          <a:prstGeom prst="rect">
            <a:avLst/>
          </a:prstGeom>
          <a:noFill/>
        </p:spPr>
        <p:txBody>
          <a:bodyPr wrap="square" rtlCol="0">
            <a:spAutoFit/>
          </a:bodyPr>
          <a:lstStyle/>
          <a:p>
            <a:pPr algn="ctr"/>
            <a:r>
              <a:rPr lang="en-US" dirty="0" smtClean="0"/>
              <a:t>Balanced dataset</a:t>
            </a:r>
            <a:endParaRPr lang="ru-RU" dirty="0"/>
          </a:p>
        </p:txBody>
      </p:sp>
      <p:cxnSp>
        <p:nvCxnSpPr>
          <p:cNvPr id="125" name="Прямая со стрелкой 124"/>
          <p:cNvCxnSpPr/>
          <p:nvPr/>
        </p:nvCxnSpPr>
        <p:spPr>
          <a:xfrm>
            <a:off x="3689418" y="4983151"/>
            <a:ext cx="827062"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7" name="Скругленный прямоугольник 126"/>
          <p:cNvSpPr/>
          <p:nvPr/>
        </p:nvSpPr>
        <p:spPr>
          <a:xfrm>
            <a:off x="4498593" y="4666481"/>
            <a:ext cx="1117116" cy="638056"/>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8" name="TextBox 127"/>
          <p:cNvSpPr txBox="1"/>
          <p:nvPr/>
        </p:nvSpPr>
        <p:spPr>
          <a:xfrm>
            <a:off x="4581236" y="4664497"/>
            <a:ext cx="1119961" cy="646331"/>
          </a:xfrm>
          <a:prstGeom prst="rect">
            <a:avLst/>
          </a:prstGeom>
          <a:noFill/>
        </p:spPr>
        <p:txBody>
          <a:bodyPr wrap="square" rtlCol="0">
            <a:spAutoFit/>
          </a:bodyPr>
          <a:lstStyle/>
          <a:p>
            <a:r>
              <a:rPr lang="en-US" dirty="0" err="1" smtClean="0"/>
              <a:t>XGBoost</a:t>
            </a:r>
            <a:r>
              <a:rPr lang="en-US" dirty="0" smtClean="0"/>
              <a:t> Classifier</a:t>
            </a:r>
            <a:endParaRPr lang="ru-RU" dirty="0"/>
          </a:p>
        </p:txBody>
      </p:sp>
      <p:cxnSp>
        <p:nvCxnSpPr>
          <p:cNvPr id="130" name="Прямая со стрелкой 129"/>
          <p:cNvCxnSpPr/>
          <p:nvPr/>
        </p:nvCxnSpPr>
        <p:spPr>
          <a:xfrm flipV="1">
            <a:off x="5619908" y="4983151"/>
            <a:ext cx="879937" cy="451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Овал 130"/>
          <p:cNvSpPr/>
          <p:nvPr/>
        </p:nvSpPr>
        <p:spPr>
          <a:xfrm>
            <a:off x="6499845" y="4759306"/>
            <a:ext cx="953900" cy="44768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2" name="TextBox 131"/>
          <p:cNvSpPr txBox="1"/>
          <p:nvPr/>
        </p:nvSpPr>
        <p:spPr>
          <a:xfrm>
            <a:off x="6482101" y="4829261"/>
            <a:ext cx="1004216" cy="307777"/>
          </a:xfrm>
          <a:prstGeom prst="rect">
            <a:avLst/>
          </a:prstGeom>
          <a:noFill/>
        </p:spPr>
        <p:txBody>
          <a:bodyPr wrap="square" rtlCol="0">
            <a:spAutoFit/>
          </a:bodyPr>
          <a:lstStyle/>
          <a:p>
            <a:r>
              <a:rPr lang="en-US" sz="1400" dirty="0" smtClean="0"/>
              <a:t>predictions</a:t>
            </a:r>
            <a:endParaRPr lang="ru-RU" sz="1400" dirty="0"/>
          </a:p>
        </p:txBody>
      </p:sp>
      <p:pic>
        <p:nvPicPr>
          <p:cNvPr id="133" name="Рисунок 132"/>
          <p:cNvPicPr>
            <a:picLocks noChangeAspect="1"/>
          </p:cNvPicPr>
          <p:nvPr/>
        </p:nvPicPr>
        <p:blipFill>
          <a:blip r:embed="rId2"/>
          <a:stretch>
            <a:fillRect/>
          </a:stretch>
        </p:blipFill>
        <p:spPr>
          <a:xfrm>
            <a:off x="9181866" y="835027"/>
            <a:ext cx="2397530" cy="3645560"/>
          </a:xfrm>
          <a:prstGeom prst="rect">
            <a:avLst/>
          </a:prstGeom>
        </p:spPr>
      </p:pic>
      <p:sp>
        <p:nvSpPr>
          <p:cNvPr id="143" name="Овал 142"/>
          <p:cNvSpPr/>
          <p:nvPr/>
        </p:nvSpPr>
        <p:spPr>
          <a:xfrm>
            <a:off x="7535443" y="6078749"/>
            <a:ext cx="200221" cy="2017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c</a:t>
            </a:r>
            <a:endParaRPr lang="ru-RU" dirty="0"/>
          </a:p>
        </p:txBody>
      </p:sp>
      <p:sp>
        <p:nvSpPr>
          <p:cNvPr id="144" name="TextBox 143"/>
          <p:cNvSpPr txBox="1"/>
          <p:nvPr/>
        </p:nvSpPr>
        <p:spPr>
          <a:xfrm>
            <a:off x="7724876" y="6041107"/>
            <a:ext cx="1408039" cy="276999"/>
          </a:xfrm>
          <a:prstGeom prst="rect">
            <a:avLst/>
          </a:prstGeom>
          <a:noFill/>
        </p:spPr>
        <p:txBody>
          <a:bodyPr wrap="square" rtlCol="0">
            <a:spAutoFit/>
          </a:bodyPr>
          <a:lstStyle/>
          <a:p>
            <a:r>
              <a:rPr lang="en-US" sz="1200" dirty="0" smtClean="0"/>
              <a:t>- concatenation</a:t>
            </a:r>
            <a:endParaRPr lang="ru-RU" sz="1200" dirty="0"/>
          </a:p>
        </p:txBody>
      </p:sp>
      <p:sp>
        <p:nvSpPr>
          <p:cNvPr id="149" name="Овал 148"/>
          <p:cNvSpPr/>
          <p:nvPr/>
        </p:nvSpPr>
        <p:spPr>
          <a:xfrm>
            <a:off x="6297307" y="1670732"/>
            <a:ext cx="200221" cy="2017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dirty="0"/>
          </a:p>
        </p:txBody>
      </p:sp>
      <p:sp>
        <p:nvSpPr>
          <p:cNvPr id="150" name="TextBox 149"/>
          <p:cNvSpPr txBox="1"/>
          <p:nvPr/>
        </p:nvSpPr>
        <p:spPr>
          <a:xfrm>
            <a:off x="6317948" y="1592408"/>
            <a:ext cx="45719" cy="369332"/>
          </a:xfrm>
          <a:prstGeom prst="rect">
            <a:avLst/>
          </a:prstGeom>
          <a:noFill/>
        </p:spPr>
        <p:txBody>
          <a:bodyPr wrap="square" rtlCol="0">
            <a:spAutoFit/>
          </a:bodyPr>
          <a:lstStyle/>
          <a:p>
            <a:r>
              <a:rPr lang="en-US" dirty="0" smtClean="0"/>
              <a:t>A</a:t>
            </a:r>
            <a:endParaRPr lang="ru-RU" dirty="0"/>
          </a:p>
        </p:txBody>
      </p:sp>
      <p:sp>
        <p:nvSpPr>
          <p:cNvPr id="151" name="Овал 150"/>
          <p:cNvSpPr/>
          <p:nvPr/>
        </p:nvSpPr>
        <p:spPr>
          <a:xfrm>
            <a:off x="6297307" y="2387530"/>
            <a:ext cx="200221" cy="2017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dirty="0"/>
          </a:p>
        </p:txBody>
      </p:sp>
      <p:sp>
        <p:nvSpPr>
          <p:cNvPr id="152" name="TextBox 151"/>
          <p:cNvSpPr txBox="1"/>
          <p:nvPr/>
        </p:nvSpPr>
        <p:spPr>
          <a:xfrm>
            <a:off x="6317948" y="2309206"/>
            <a:ext cx="45719" cy="369332"/>
          </a:xfrm>
          <a:prstGeom prst="rect">
            <a:avLst/>
          </a:prstGeom>
          <a:noFill/>
        </p:spPr>
        <p:txBody>
          <a:bodyPr wrap="square" rtlCol="0">
            <a:spAutoFit/>
          </a:bodyPr>
          <a:lstStyle/>
          <a:p>
            <a:r>
              <a:rPr lang="en-US" dirty="0" smtClean="0"/>
              <a:t>A</a:t>
            </a:r>
            <a:endParaRPr lang="ru-RU" dirty="0"/>
          </a:p>
        </p:txBody>
      </p:sp>
      <p:sp>
        <p:nvSpPr>
          <p:cNvPr id="153" name="Овал 152"/>
          <p:cNvSpPr/>
          <p:nvPr/>
        </p:nvSpPr>
        <p:spPr>
          <a:xfrm>
            <a:off x="7535443" y="5791164"/>
            <a:ext cx="200221" cy="20171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ru-RU" dirty="0"/>
          </a:p>
        </p:txBody>
      </p:sp>
      <p:sp>
        <p:nvSpPr>
          <p:cNvPr id="154" name="TextBox 153"/>
          <p:cNvSpPr txBox="1"/>
          <p:nvPr/>
        </p:nvSpPr>
        <p:spPr>
          <a:xfrm>
            <a:off x="7556084" y="5712840"/>
            <a:ext cx="45719" cy="369332"/>
          </a:xfrm>
          <a:prstGeom prst="rect">
            <a:avLst/>
          </a:prstGeom>
          <a:noFill/>
        </p:spPr>
        <p:txBody>
          <a:bodyPr wrap="square" rtlCol="0">
            <a:spAutoFit/>
          </a:bodyPr>
          <a:lstStyle/>
          <a:p>
            <a:r>
              <a:rPr lang="en-US" dirty="0" smtClean="0"/>
              <a:t>A</a:t>
            </a:r>
            <a:endParaRPr lang="ru-RU" dirty="0"/>
          </a:p>
        </p:txBody>
      </p:sp>
      <p:sp>
        <p:nvSpPr>
          <p:cNvPr id="155" name="TextBox 154"/>
          <p:cNvSpPr txBox="1"/>
          <p:nvPr/>
        </p:nvSpPr>
        <p:spPr>
          <a:xfrm>
            <a:off x="7720749" y="5753522"/>
            <a:ext cx="1317388" cy="276999"/>
          </a:xfrm>
          <a:prstGeom prst="rect">
            <a:avLst/>
          </a:prstGeom>
          <a:noFill/>
        </p:spPr>
        <p:txBody>
          <a:bodyPr wrap="square" rtlCol="0">
            <a:spAutoFit/>
          </a:bodyPr>
          <a:lstStyle/>
          <a:p>
            <a:r>
              <a:rPr lang="en-US" sz="1200" dirty="0" smtClean="0"/>
              <a:t>- Adam optimizer</a:t>
            </a:r>
            <a:endParaRPr lang="ru-RU" sz="1200" dirty="0"/>
          </a:p>
        </p:txBody>
      </p:sp>
    </p:spTree>
    <p:extLst>
      <p:ext uri="{BB962C8B-B14F-4D97-AF65-F5344CB8AC3E}">
        <p14:creationId xmlns:p14="http://schemas.microsoft.com/office/powerpoint/2010/main" val="1580071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VAE (theory)</a:t>
            </a:r>
            <a:endParaRPr lang="ru-RU" dirty="0"/>
          </a:p>
        </p:txBody>
      </p:sp>
      <p:sp>
        <p:nvSpPr>
          <p:cNvPr id="3" name="Объект 2"/>
          <p:cNvSpPr>
            <a:spLocks noGrp="1"/>
          </p:cNvSpPr>
          <p:nvPr>
            <p:ph idx="1"/>
          </p:nvPr>
        </p:nvSpPr>
        <p:spPr/>
        <p:txBody>
          <a:bodyPr>
            <a:normAutofit/>
          </a:bodyPr>
          <a:lstStyle/>
          <a:p>
            <a:r>
              <a:rPr lang="en-US" sz="2000" dirty="0" smtClean="0"/>
              <a:t>VAE - generative model that learns to encode data into a continuous latent space and reconstruct it, while simultaneously modeling the data distribution. VAE is a generative model that learns to encode data into a continuous latent space and reconstruct it, while simultaneously modeling the data distribution. </a:t>
            </a:r>
            <a:r>
              <a:rPr lang="en-US" sz="1200" dirty="0" smtClean="0"/>
              <a:t>[3]</a:t>
            </a:r>
          </a:p>
          <a:p>
            <a:r>
              <a:rPr lang="en-US" sz="2000" dirty="0" smtClean="0"/>
              <a:t>A VAE consists of two parts:</a:t>
            </a:r>
          </a:p>
          <a:p>
            <a:pPr marL="0" indent="0">
              <a:buNone/>
            </a:pPr>
            <a:r>
              <a:rPr lang="en-US" sz="2000" dirty="0" smtClean="0"/>
              <a:t>     Encoder (E) — transforms input data into distribution parameters: </a:t>
            </a:r>
            <a:r>
              <a:rPr lang="el-GR" sz="2000" dirty="0" smtClean="0"/>
              <a:t>μ(</a:t>
            </a:r>
            <a:r>
              <a:rPr lang="en-US" sz="2000" dirty="0" smtClean="0"/>
              <a:t>x), </a:t>
            </a:r>
            <a:r>
              <a:rPr lang="el-GR" sz="2000" dirty="0" smtClean="0"/>
              <a:t>σ(</a:t>
            </a:r>
            <a:r>
              <a:rPr lang="en-US" sz="2000" dirty="0" smtClean="0"/>
              <a:t>x)</a:t>
            </a:r>
          </a:p>
          <a:p>
            <a:pPr marL="0" indent="0">
              <a:buNone/>
            </a:pPr>
            <a:r>
              <a:rPr lang="en-US" sz="2000" dirty="0"/>
              <a:t> </a:t>
            </a:r>
            <a:r>
              <a:rPr lang="en-US" sz="2000" dirty="0" smtClean="0"/>
              <a:t>    Decoder (D) — generates data from the latent vector</a:t>
            </a:r>
          </a:p>
          <a:p>
            <a:pPr marL="0" indent="0">
              <a:buNone/>
            </a:pPr>
            <a:r>
              <a:rPr lang="en-US" sz="2000" dirty="0" smtClean="0"/>
              <a:t>Instead of a single latent vector, the network learns the distribution:</a:t>
            </a:r>
          </a:p>
          <a:p>
            <a:pPr marL="0" indent="0">
              <a:buNone/>
            </a:pPr>
            <a:endParaRPr lang="en-US" sz="2000" dirty="0" smtClean="0"/>
          </a:p>
          <a:p>
            <a:pPr marL="0" indent="0">
              <a:buNone/>
            </a:pPr>
            <a:r>
              <a:rPr lang="en-US" sz="2000" dirty="0" smtClean="0"/>
              <a:t>Loss function: </a:t>
            </a:r>
          </a:p>
          <a:p>
            <a:pPr marL="0" indent="0">
              <a:buNone/>
            </a:pPr>
            <a:endParaRPr lang="ru-RU" sz="2000" dirty="0"/>
          </a:p>
        </p:txBody>
      </p:sp>
      <p:pic>
        <p:nvPicPr>
          <p:cNvPr id="4" name="Рисунок 3"/>
          <p:cNvPicPr>
            <a:picLocks noChangeAspect="1"/>
          </p:cNvPicPr>
          <p:nvPr/>
        </p:nvPicPr>
        <p:blipFill>
          <a:blip r:embed="rId2"/>
          <a:stretch>
            <a:fillRect/>
          </a:stretch>
        </p:blipFill>
        <p:spPr>
          <a:xfrm>
            <a:off x="838200" y="4671736"/>
            <a:ext cx="1226926" cy="396274"/>
          </a:xfrm>
          <a:prstGeom prst="rect">
            <a:avLst/>
          </a:prstGeom>
        </p:spPr>
      </p:pic>
      <p:pic>
        <p:nvPicPr>
          <p:cNvPr id="5" name="Рисунок 4"/>
          <p:cNvPicPr>
            <a:picLocks noChangeAspect="1"/>
          </p:cNvPicPr>
          <p:nvPr/>
        </p:nvPicPr>
        <p:blipFill>
          <a:blip r:embed="rId3"/>
          <a:stretch>
            <a:fillRect/>
          </a:stretch>
        </p:blipFill>
        <p:spPr>
          <a:xfrm>
            <a:off x="2377571" y="4671736"/>
            <a:ext cx="2301439" cy="396274"/>
          </a:xfrm>
          <a:prstGeom prst="rect">
            <a:avLst/>
          </a:prstGeom>
        </p:spPr>
      </p:pic>
      <p:pic>
        <p:nvPicPr>
          <p:cNvPr id="6" name="Рисунок 5"/>
          <p:cNvPicPr>
            <a:picLocks noChangeAspect="1"/>
          </p:cNvPicPr>
          <p:nvPr/>
        </p:nvPicPr>
        <p:blipFill>
          <a:blip r:embed="rId4"/>
          <a:stretch>
            <a:fillRect/>
          </a:stretch>
        </p:blipFill>
        <p:spPr>
          <a:xfrm>
            <a:off x="2377571" y="5068010"/>
            <a:ext cx="3947502" cy="586791"/>
          </a:xfrm>
          <a:prstGeom prst="rect">
            <a:avLst/>
          </a:prstGeom>
        </p:spPr>
      </p:pic>
      <p:pic>
        <p:nvPicPr>
          <p:cNvPr id="7" name="Рисунок 6"/>
          <p:cNvPicPr>
            <a:picLocks noChangeAspect="1"/>
          </p:cNvPicPr>
          <p:nvPr/>
        </p:nvPicPr>
        <p:blipFill>
          <a:blip r:embed="rId5"/>
          <a:stretch>
            <a:fillRect/>
          </a:stretch>
        </p:blipFill>
        <p:spPr>
          <a:xfrm>
            <a:off x="8111941" y="3828845"/>
            <a:ext cx="1454991" cy="1685782"/>
          </a:xfrm>
          <a:prstGeom prst="rect">
            <a:avLst/>
          </a:prstGeom>
        </p:spPr>
      </p:pic>
      <p:pic>
        <p:nvPicPr>
          <p:cNvPr id="8" name="Рисунок 7"/>
          <p:cNvPicPr>
            <a:picLocks noChangeAspect="1"/>
          </p:cNvPicPr>
          <p:nvPr/>
        </p:nvPicPr>
        <p:blipFill>
          <a:blip r:embed="rId6"/>
          <a:stretch>
            <a:fillRect/>
          </a:stretch>
        </p:blipFill>
        <p:spPr>
          <a:xfrm>
            <a:off x="9566932" y="3828845"/>
            <a:ext cx="1624116" cy="1685782"/>
          </a:xfrm>
          <a:prstGeom prst="rect">
            <a:avLst/>
          </a:prstGeom>
        </p:spPr>
      </p:pic>
      <p:pic>
        <p:nvPicPr>
          <p:cNvPr id="9" name="Рисунок 8"/>
          <p:cNvPicPr>
            <a:picLocks noChangeAspect="1"/>
          </p:cNvPicPr>
          <p:nvPr/>
        </p:nvPicPr>
        <p:blipFill>
          <a:blip r:embed="rId7"/>
          <a:stretch>
            <a:fillRect/>
          </a:stretch>
        </p:blipFill>
        <p:spPr>
          <a:xfrm>
            <a:off x="8279344" y="2743200"/>
            <a:ext cx="2897129" cy="569927"/>
          </a:xfrm>
          <a:prstGeom prst="rect">
            <a:avLst/>
          </a:prstGeom>
        </p:spPr>
      </p:pic>
    </p:spTree>
    <p:extLst>
      <p:ext uri="{BB962C8B-B14F-4D97-AF65-F5344CB8AC3E}">
        <p14:creationId xmlns:p14="http://schemas.microsoft.com/office/powerpoint/2010/main" val="1990584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Прямоугольник 135"/>
          <p:cNvSpPr/>
          <p:nvPr/>
        </p:nvSpPr>
        <p:spPr>
          <a:xfrm>
            <a:off x="2593932" y="1107593"/>
            <a:ext cx="6470019" cy="2179781"/>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a:xfrm>
            <a:off x="838200" y="180398"/>
            <a:ext cx="10515600" cy="918730"/>
          </a:xfrm>
        </p:spPr>
        <p:txBody>
          <a:bodyPr/>
          <a:lstStyle/>
          <a:p>
            <a:r>
              <a:rPr lang="en-US" dirty="0" smtClean="0"/>
              <a:t>VAE (realization) </a:t>
            </a:r>
            <a:endParaRPr lang="ru-RU" dirty="0"/>
          </a:p>
        </p:txBody>
      </p:sp>
      <p:sp>
        <p:nvSpPr>
          <p:cNvPr id="3" name="Прямоугольник 2"/>
          <p:cNvSpPr/>
          <p:nvPr/>
        </p:nvSpPr>
        <p:spPr>
          <a:xfrm>
            <a:off x="838200" y="2235582"/>
            <a:ext cx="1634837" cy="6373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Box 3"/>
          <p:cNvSpPr txBox="1"/>
          <p:nvPr/>
        </p:nvSpPr>
        <p:spPr>
          <a:xfrm>
            <a:off x="883620" y="2231070"/>
            <a:ext cx="1461655" cy="646331"/>
          </a:xfrm>
          <a:prstGeom prst="rect">
            <a:avLst/>
          </a:prstGeom>
          <a:noFill/>
        </p:spPr>
        <p:txBody>
          <a:bodyPr wrap="square" rtlCol="0">
            <a:spAutoFit/>
          </a:bodyPr>
          <a:lstStyle/>
          <a:p>
            <a:pPr algn="ctr"/>
            <a:r>
              <a:rPr lang="en-US" dirty="0" smtClean="0"/>
              <a:t>Input (</a:t>
            </a:r>
            <a:r>
              <a:rPr lang="en-US" dirty="0" err="1" smtClean="0"/>
              <a:t>x_minority</a:t>
            </a:r>
            <a:r>
              <a:rPr lang="en-US" dirty="0" smtClean="0"/>
              <a:t>)</a:t>
            </a:r>
            <a:endParaRPr lang="ru-RU" dirty="0"/>
          </a:p>
        </p:txBody>
      </p:sp>
      <p:cxnSp>
        <p:nvCxnSpPr>
          <p:cNvPr id="5" name="Прямая со стрелкой 4"/>
          <p:cNvCxnSpPr>
            <a:stCxn id="3" idx="3"/>
          </p:cNvCxnSpPr>
          <p:nvPr/>
        </p:nvCxnSpPr>
        <p:spPr>
          <a:xfrm flipV="1">
            <a:off x="2473037" y="2554049"/>
            <a:ext cx="379775" cy="18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Овал 5"/>
          <p:cNvSpPr/>
          <p:nvPr/>
        </p:nvSpPr>
        <p:spPr>
          <a:xfrm>
            <a:off x="2861537" y="2319259"/>
            <a:ext cx="1042883" cy="442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7" name="TextBox 6"/>
          <p:cNvSpPr txBox="1"/>
          <p:nvPr/>
        </p:nvSpPr>
        <p:spPr>
          <a:xfrm>
            <a:off x="2473037" y="2420331"/>
            <a:ext cx="1834807" cy="246221"/>
          </a:xfrm>
          <a:prstGeom prst="rect">
            <a:avLst/>
          </a:prstGeom>
          <a:noFill/>
        </p:spPr>
        <p:txBody>
          <a:bodyPr wrap="square" rtlCol="0">
            <a:spAutoFit/>
          </a:bodyPr>
          <a:lstStyle/>
          <a:p>
            <a:pPr algn="ctr"/>
            <a:r>
              <a:rPr lang="en-US" sz="1000" dirty="0" smtClean="0"/>
              <a:t>Tensor </a:t>
            </a:r>
            <a:r>
              <a:rPr lang="en-US" sz="1000" dirty="0" err="1" smtClean="0"/>
              <a:t>convertion</a:t>
            </a:r>
            <a:endParaRPr lang="ru-RU" sz="800" dirty="0"/>
          </a:p>
        </p:txBody>
      </p:sp>
      <p:sp>
        <p:nvSpPr>
          <p:cNvPr id="10" name="Скругленный прямоугольник 9"/>
          <p:cNvSpPr/>
          <p:nvPr/>
        </p:nvSpPr>
        <p:spPr>
          <a:xfrm>
            <a:off x="4378074" y="2405952"/>
            <a:ext cx="951345" cy="270370"/>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 name="TextBox 10"/>
          <p:cNvSpPr txBox="1"/>
          <p:nvPr/>
        </p:nvSpPr>
        <p:spPr>
          <a:xfrm>
            <a:off x="4420830" y="2415549"/>
            <a:ext cx="1541675" cy="276999"/>
          </a:xfrm>
          <a:prstGeom prst="rect">
            <a:avLst/>
          </a:prstGeom>
          <a:noFill/>
        </p:spPr>
        <p:txBody>
          <a:bodyPr wrap="square" rtlCol="0">
            <a:spAutoFit/>
          </a:bodyPr>
          <a:lstStyle/>
          <a:p>
            <a:r>
              <a:rPr lang="en-US" sz="1200" dirty="0" smtClean="0"/>
              <a:t>Encoder</a:t>
            </a:r>
            <a:endParaRPr lang="ru-RU" sz="1200" dirty="0"/>
          </a:p>
        </p:txBody>
      </p:sp>
      <p:cxnSp>
        <p:nvCxnSpPr>
          <p:cNvPr id="19" name="Прямая со стрелкой 18"/>
          <p:cNvCxnSpPr/>
          <p:nvPr/>
        </p:nvCxnSpPr>
        <p:spPr>
          <a:xfrm flipV="1">
            <a:off x="7923078" y="1914935"/>
            <a:ext cx="0" cy="3782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7547027" y="1641691"/>
            <a:ext cx="1054634" cy="276999"/>
          </a:xfrm>
          <a:prstGeom prst="rect">
            <a:avLst/>
          </a:prstGeom>
          <a:noFill/>
        </p:spPr>
        <p:txBody>
          <a:bodyPr wrap="square" rtlCol="0">
            <a:spAutoFit/>
          </a:bodyPr>
          <a:lstStyle/>
          <a:p>
            <a:r>
              <a:rPr lang="en-US" sz="1200" dirty="0" smtClean="0"/>
              <a:t>Decoder</a:t>
            </a:r>
            <a:endParaRPr lang="ru-RU" sz="1200" dirty="0"/>
          </a:p>
        </p:txBody>
      </p:sp>
      <p:sp>
        <p:nvSpPr>
          <p:cNvPr id="28" name="Скругленный прямоугольник 27"/>
          <p:cNvSpPr/>
          <p:nvPr/>
        </p:nvSpPr>
        <p:spPr>
          <a:xfrm>
            <a:off x="7426918" y="1618791"/>
            <a:ext cx="1022527" cy="276999"/>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49" name="Прямая со стрелкой 48"/>
          <p:cNvCxnSpPr/>
          <p:nvPr/>
        </p:nvCxnSpPr>
        <p:spPr>
          <a:xfrm>
            <a:off x="3909316" y="2540368"/>
            <a:ext cx="486734" cy="77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Соединительная линия уступом 58"/>
          <p:cNvCxnSpPr>
            <a:stCxn id="117" idx="2"/>
            <a:endCxn id="6" idx="0"/>
          </p:cNvCxnSpPr>
          <p:nvPr/>
        </p:nvCxnSpPr>
        <p:spPr>
          <a:xfrm rot="10800000" flipV="1">
            <a:off x="3382980" y="1756773"/>
            <a:ext cx="297227" cy="562486"/>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Овал 60"/>
          <p:cNvSpPr/>
          <p:nvPr/>
        </p:nvSpPr>
        <p:spPr>
          <a:xfrm>
            <a:off x="5409236" y="2592218"/>
            <a:ext cx="1106537" cy="4242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2" name="Овал 61"/>
          <p:cNvSpPr/>
          <p:nvPr/>
        </p:nvSpPr>
        <p:spPr>
          <a:xfrm>
            <a:off x="5417144" y="2049668"/>
            <a:ext cx="1106537" cy="42425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3" name="TextBox 62"/>
          <p:cNvSpPr txBox="1"/>
          <p:nvPr/>
        </p:nvSpPr>
        <p:spPr>
          <a:xfrm>
            <a:off x="5455392" y="2116654"/>
            <a:ext cx="1117860" cy="276999"/>
          </a:xfrm>
          <a:prstGeom prst="rect">
            <a:avLst/>
          </a:prstGeom>
          <a:noFill/>
        </p:spPr>
        <p:txBody>
          <a:bodyPr wrap="square" rtlCol="0">
            <a:spAutoFit/>
          </a:bodyPr>
          <a:lstStyle/>
          <a:p>
            <a:r>
              <a:rPr lang="en-US" sz="1200" dirty="0" smtClean="0"/>
              <a:t>Vector (log</a:t>
            </a:r>
            <a:r>
              <a:rPr lang="el-GR" sz="1200" dirty="0" smtClean="0"/>
              <a:t>σ</a:t>
            </a:r>
            <a:r>
              <a:rPr lang="en-US" sz="1200" baseline="30000" dirty="0" smtClean="0"/>
              <a:t>2</a:t>
            </a:r>
            <a:r>
              <a:rPr lang="en-US" sz="1200" dirty="0" smtClean="0"/>
              <a:t>)</a:t>
            </a:r>
            <a:endParaRPr lang="ru-RU" sz="1200" baseline="30000" dirty="0"/>
          </a:p>
        </p:txBody>
      </p:sp>
      <p:sp>
        <p:nvSpPr>
          <p:cNvPr id="65" name="TextBox 64"/>
          <p:cNvSpPr txBox="1"/>
          <p:nvPr/>
        </p:nvSpPr>
        <p:spPr>
          <a:xfrm>
            <a:off x="5595591" y="2686656"/>
            <a:ext cx="928089" cy="276999"/>
          </a:xfrm>
          <a:prstGeom prst="rect">
            <a:avLst/>
          </a:prstGeom>
          <a:noFill/>
        </p:spPr>
        <p:txBody>
          <a:bodyPr wrap="square" rtlCol="0">
            <a:spAutoFit/>
          </a:bodyPr>
          <a:lstStyle/>
          <a:p>
            <a:r>
              <a:rPr lang="en-US" sz="1200" dirty="0" smtClean="0"/>
              <a:t>Vector (</a:t>
            </a:r>
            <a:r>
              <a:rPr lang="el-GR" sz="1200" dirty="0" smtClean="0"/>
              <a:t>μ</a:t>
            </a:r>
            <a:r>
              <a:rPr lang="en-US" sz="1200" dirty="0" smtClean="0"/>
              <a:t>) </a:t>
            </a:r>
            <a:endParaRPr lang="ru-RU" sz="1200" dirty="0"/>
          </a:p>
        </p:txBody>
      </p:sp>
      <p:cxnSp>
        <p:nvCxnSpPr>
          <p:cNvPr id="67" name="Соединительная линия уступом 66"/>
          <p:cNvCxnSpPr>
            <a:stCxn id="10" idx="0"/>
            <a:endCxn id="62" idx="2"/>
          </p:cNvCxnSpPr>
          <p:nvPr/>
        </p:nvCxnSpPr>
        <p:spPr>
          <a:xfrm rot="5400000" flipH="1" flipV="1">
            <a:off x="5063367" y="2052176"/>
            <a:ext cx="144156" cy="56339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Соединительная линия уступом 79"/>
          <p:cNvCxnSpPr>
            <a:endCxn id="61" idx="2"/>
          </p:cNvCxnSpPr>
          <p:nvPr/>
        </p:nvCxnSpPr>
        <p:spPr>
          <a:xfrm>
            <a:off x="4872240" y="2676322"/>
            <a:ext cx="536996" cy="128024"/>
          </a:xfrm>
          <a:prstGeom prst="bentConnector3">
            <a:avLst>
              <a:gd name="adj1" fmla="val 12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Прямоугольник 82"/>
          <p:cNvSpPr/>
          <p:nvPr/>
        </p:nvSpPr>
        <p:spPr>
          <a:xfrm>
            <a:off x="7020142" y="2285736"/>
            <a:ext cx="1831340" cy="5092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4" name="TextBox 83"/>
          <p:cNvSpPr txBox="1"/>
          <p:nvPr/>
        </p:nvSpPr>
        <p:spPr>
          <a:xfrm>
            <a:off x="6702128" y="2301126"/>
            <a:ext cx="2408600" cy="523220"/>
          </a:xfrm>
          <a:prstGeom prst="rect">
            <a:avLst/>
          </a:prstGeom>
          <a:noFill/>
        </p:spPr>
        <p:txBody>
          <a:bodyPr wrap="square" rtlCol="0">
            <a:spAutoFit/>
          </a:bodyPr>
          <a:lstStyle/>
          <a:p>
            <a:pPr algn="ctr"/>
            <a:r>
              <a:rPr lang="en-US" sz="1400" dirty="0" err="1" smtClean="0"/>
              <a:t>Reparameterization</a:t>
            </a:r>
            <a:endParaRPr lang="ru-RU" sz="1400" dirty="0" smtClean="0"/>
          </a:p>
          <a:p>
            <a:pPr algn="ctr"/>
            <a:r>
              <a:rPr lang="en-US" sz="1400" dirty="0"/>
              <a:t>z = </a:t>
            </a:r>
            <a:r>
              <a:rPr lang="el-GR" sz="1400" dirty="0"/>
              <a:t>μ + ε·</a:t>
            </a:r>
            <a:r>
              <a:rPr lang="en-US" sz="1400" dirty="0" smtClean="0"/>
              <a:t>e</a:t>
            </a:r>
            <a:r>
              <a:rPr lang="en-US" sz="1400" baseline="30000" dirty="0" smtClean="0"/>
              <a:t>(0.5·log</a:t>
            </a:r>
            <a:r>
              <a:rPr lang="el-GR" sz="1400" baseline="30000" dirty="0"/>
              <a:t>σ²)</a:t>
            </a:r>
            <a:endParaRPr lang="ru-RU" sz="1400" baseline="30000" dirty="0"/>
          </a:p>
        </p:txBody>
      </p:sp>
      <p:cxnSp>
        <p:nvCxnSpPr>
          <p:cNvPr id="100" name="Прямая со стрелкой 99"/>
          <p:cNvCxnSpPr/>
          <p:nvPr/>
        </p:nvCxnSpPr>
        <p:spPr>
          <a:xfrm>
            <a:off x="6523681" y="2262836"/>
            <a:ext cx="496461" cy="19725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Прямая со стрелкой 102"/>
          <p:cNvCxnSpPr>
            <a:stCxn id="65" idx="3"/>
          </p:cNvCxnSpPr>
          <p:nvPr/>
        </p:nvCxnSpPr>
        <p:spPr>
          <a:xfrm flipV="1">
            <a:off x="6523680" y="2634264"/>
            <a:ext cx="496462" cy="19089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4" name="Прямая со стрелкой 113"/>
          <p:cNvCxnSpPr>
            <a:stCxn id="28" idx="1"/>
          </p:cNvCxnSpPr>
          <p:nvPr/>
        </p:nvCxnSpPr>
        <p:spPr>
          <a:xfrm flipH="1" flipV="1">
            <a:off x="6515773" y="1757290"/>
            <a:ext cx="911145"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5" name="Прямоугольник 114"/>
          <p:cNvSpPr/>
          <p:nvPr/>
        </p:nvSpPr>
        <p:spPr>
          <a:xfrm>
            <a:off x="5286930" y="1545617"/>
            <a:ext cx="1228843" cy="406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6" name="TextBox 115"/>
          <p:cNvSpPr txBox="1"/>
          <p:nvPr/>
        </p:nvSpPr>
        <p:spPr>
          <a:xfrm>
            <a:off x="5286930" y="1623218"/>
            <a:ext cx="1228843" cy="276999"/>
          </a:xfrm>
          <a:prstGeom prst="rect">
            <a:avLst/>
          </a:prstGeom>
          <a:noFill/>
        </p:spPr>
        <p:txBody>
          <a:bodyPr wrap="square" rtlCol="0">
            <a:spAutoFit/>
          </a:bodyPr>
          <a:lstStyle/>
          <a:p>
            <a:r>
              <a:rPr lang="en-US" sz="1200" dirty="0" smtClean="0"/>
              <a:t>X reconstruction</a:t>
            </a:r>
            <a:endParaRPr lang="ru-RU" sz="1200" dirty="0"/>
          </a:p>
        </p:txBody>
      </p:sp>
      <p:sp>
        <p:nvSpPr>
          <p:cNvPr id="117" name="Овал 116"/>
          <p:cNvSpPr/>
          <p:nvPr/>
        </p:nvSpPr>
        <p:spPr>
          <a:xfrm>
            <a:off x="3680206" y="1581686"/>
            <a:ext cx="1185172" cy="3501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18" name="TextBox 117"/>
          <p:cNvSpPr txBox="1"/>
          <p:nvPr/>
        </p:nvSpPr>
        <p:spPr>
          <a:xfrm>
            <a:off x="3683827" y="1637936"/>
            <a:ext cx="1185172" cy="276999"/>
          </a:xfrm>
          <a:prstGeom prst="rect">
            <a:avLst/>
          </a:prstGeom>
          <a:noFill/>
        </p:spPr>
        <p:txBody>
          <a:bodyPr wrap="square" rtlCol="0">
            <a:spAutoFit/>
          </a:bodyPr>
          <a:lstStyle/>
          <a:p>
            <a:r>
              <a:rPr lang="en-US" sz="1200" dirty="0" smtClean="0"/>
              <a:t>Loss: MSE + KDL</a:t>
            </a:r>
            <a:endParaRPr lang="ru-RU" sz="1200" dirty="0"/>
          </a:p>
        </p:txBody>
      </p:sp>
      <p:cxnSp>
        <p:nvCxnSpPr>
          <p:cNvPr id="122" name="Прямая со стрелкой 121"/>
          <p:cNvCxnSpPr/>
          <p:nvPr/>
        </p:nvCxnSpPr>
        <p:spPr>
          <a:xfrm flipH="1" flipV="1">
            <a:off x="4865378" y="1756664"/>
            <a:ext cx="407133" cy="154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1" name="Овал 130"/>
          <p:cNvSpPr/>
          <p:nvPr/>
        </p:nvSpPr>
        <p:spPr>
          <a:xfrm>
            <a:off x="3158766" y="1661490"/>
            <a:ext cx="180497" cy="1790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2" name="TextBox 131"/>
          <p:cNvSpPr txBox="1"/>
          <p:nvPr/>
        </p:nvSpPr>
        <p:spPr>
          <a:xfrm>
            <a:off x="3135449" y="1623218"/>
            <a:ext cx="154118" cy="276999"/>
          </a:xfrm>
          <a:prstGeom prst="rect">
            <a:avLst/>
          </a:prstGeom>
          <a:noFill/>
        </p:spPr>
        <p:txBody>
          <a:bodyPr wrap="square" rtlCol="0">
            <a:spAutoFit/>
          </a:bodyPr>
          <a:lstStyle/>
          <a:p>
            <a:r>
              <a:rPr lang="en-US" sz="1200" dirty="0" smtClean="0"/>
              <a:t>A</a:t>
            </a:r>
            <a:endParaRPr lang="ru-RU" sz="1200" dirty="0"/>
          </a:p>
        </p:txBody>
      </p:sp>
      <p:sp>
        <p:nvSpPr>
          <p:cNvPr id="133" name="Овал 132"/>
          <p:cNvSpPr/>
          <p:nvPr/>
        </p:nvSpPr>
        <p:spPr>
          <a:xfrm>
            <a:off x="10011558" y="6077145"/>
            <a:ext cx="222723" cy="24088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4" name="TextBox 133"/>
          <p:cNvSpPr txBox="1"/>
          <p:nvPr/>
        </p:nvSpPr>
        <p:spPr>
          <a:xfrm>
            <a:off x="9979154" y="6013018"/>
            <a:ext cx="170927" cy="369332"/>
          </a:xfrm>
          <a:prstGeom prst="rect">
            <a:avLst/>
          </a:prstGeom>
          <a:noFill/>
        </p:spPr>
        <p:txBody>
          <a:bodyPr wrap="square" rtlCol="0">
            <a:spAutoFit/>
          </a:bodyPr>
          <a:lstStyle/>
          <a:p>
            <a:r>
              <a:rPr lang="en-US" dirty="0" smtClean="0"/>
              <a:t>A</a:t>
            </a:r>
            <a:endParaRPr lang="ru-RU" dirty="0"/>
          </a:p>
        </p:txBody>
      </p:sp>
      <p:sp>
        <p:nvSpPr>
          <p:cNvPr id="135" name="TextBox 134"/>
          <p:cNvSpPr txBox="1"/>
          <p:nvPr/>
        </p:nvSpPr>
        <p:spPr>
          <a:xfrm>
            <a:off x="10234281" y="6077145"/>
            <a:ext cx="1307414" cy="276999"/>
          </a:xfrm>
          <a:prstGeom prst="rect">
            <a:avLst/>
          </a:prstGeom>
          <a:noFill/>
        </p:spPr>
        <p:txBody>
          <a:bodyPr wrap="square" rtlCol="0">
            <a:spAutoFit/>
          </a:bodyPr>
          <a:lstStyle/>
          <a:p>
            <a:r>
              <a:rPr lang="en-US" sz="1200" dirty="0" smtClean="0"/>
              <a:t>- Adam Optimizer</a:t>
            </a:r>
            <a:endParaRPr lang="ru-RU" sz="1200" dirty="0"/>
          </a:p>
        </p:txBody>
      </p:sp>
      <p:sp>
        <p:nvSpPr>
          <p:cNvPr id="138" name="TextBox 137"/>
          <p:cNvSpPr txBox="1"/>
          <p:nvPr/>
        </p:nvSpPr>
        <p:spPr>
          <a:xfrm>
            <a:off x="2576945" y="1107593"/>
            <a:ext cx="1546013" cy="369332"/>
          </a:xfrm>
          <a:prstGeom prst="rect">
            <a:avLst/>
          </a:prstGeom>
          <a:noFill/>
        </p:spPr>
        <p:txBody>
          <a:bodyPr wrap="square" rtlCol="0">
            <a:spAutoFit/>
          </a:bodyPr>
          <a:lstStyle/>
          <a:p>
            <a:r>
              <a:rPr lang="en-US" dirty="0" smtClean="0"/>
              <a:t>VAE training</a:t>
            </a:r>
            <a:endParaRPr lang="ru-RU" dirty="0"/>
          </a:p>
        </p:txBody>
      </p:sp>
      <p:cxnSp>
        <p:nvCxnSpPr>
          <p:cNvPr id="142" name="Соединительная линия уступом 141"/>
          <p:cNvCxnSpPr>
            <a:stCxn id="115" idx="0"/>
            <a:endCxn id="143" idx="0"/>
          </p:cNvCxnSpPr>
          <p:nvPr/>
        </p:nvCxnSpPr>
        <p:spPr>
          <a:xfrm rot="5400000" flipH="1" flipV="1">
            <a:off x="8030444" y="-1021499"/>
            <a:ext cx="438024" cy="4696208"/>
          </a:xfrm>
          <a:prstGeom prst="bentConnector3">
            <a:avLst>
              <a:gd name="adj1" fmla="val 152189"/>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3" name="Прямоугольник 142"/>
          <p:cNvSpPr/>
          <p:nvPr/>
        </p:nvSpPr>
        <p:spPr>
          <a:xfrm>
            <a:off x="9423388" y="1107593"/>
            <a:ext cx="2348343" cy="4841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4" name="TextBox 143"/>
          <p:cNvSpPr txBox="1"/>
          <p:nvPr/>
        </p:nvSpPr>
        <p:spPr>
          <a:xfrm>
            <a:off x="9500376" y="1173019"/>
            <a:ext cx="2319655" cy="369332"/>
          </a:xfrm>
          <a:prstGeom prst="rect">
            <a:avLst/>
          </a:prstGeom>
          <a:noFill/>
        </p:spPr>
        <p:txBody>
          <a:bodyPr wrap="square" rtlCol="0">
            <a:spAutoFit/>
          </a:bodyPr>
          <a:lstStyle/>
          <a:p>
            <a:r>
              <a:rPr lang="en-US" dirty="0" smtClean="0"/>
              <a:t>VAE Feature Extractor</a:t>
            </a:r>
            <a:endParaRPr lang="ru-RU" dirty="0"/>
          </a:p>
        </p:txBody>
      </p:sp>
      <p:sp>
        <p:nvSpPr>
          <p:cNvPr id="148" name="Овал 147"/>
          <p:cNvSpPr/>
          <p:nvPr/>
        </p:nvSpPr>
        <p:spPr>
          <a:xfrm>
            <a:off x="10064618" y="1821850"/>
            <a:ext cx="1043709" cy="29545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0" name="TextBox 149"/>
          <p:cNvSpPr txBox="1"/>
          <p:nvPr/>
        </p:nvSpPr>
        <p:spPr>
          <a:xfrm>
            <a:off x="10189386" y="1839281"/>
            <a:ext cx="799769" cy="276999"/>
          </a:xfrm>
          <a:prstGeom prst="rect">
            <a:avLst/>
          </a:prstGeom>
          <a:noFill/>
        </p:spPr>
        <p:txBody>
          <a:bodyPr wrap="square" rtlCol="0">
            <a:spAutoFit/>
          </a:bodyPr>
          <a:lstStyle/>
          <a:p>
            <a:r>
              <a:rPr lang="en-US" sz="1200" dirty="0"/>
              <a:t>Vector (</a:t>
            </a:r>
            <a:r>
              <a:rPr lang="el-GR" sz="1200" dirty="0"/>
              <a:t>μ</a:t>
            </a:r>
            <a:r>
              <a:rPr lang="en-US" sz="1200" dirty="0"/>
              <a:t>)</a:t>
            </a:r>
            <a:endParaRPr lang="ru-RU" sz="1200" dirty="0"/>
          </a:p>
        </p:txBody>
      </p:sp>
      <p:sp>
        <p:nvSpPr>
          <p:cNvPr id="151" name="Овал 150"/>
          <p:cNvSpPr/>
          <p:nvPr/>
        </p:nvSpPr>
        <p:spPr>
          <a:xfrm>
            <a:off x="10067417" y="2209464"/>
            <a:ext cx="1043709" cy="27585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2" name="Овал 151"/>
          <p:cNvSpPr/>
          <p:nvPr/>
        </p:nvSpPr>
        <p:spPr>
          <a:xfrm>
            <a:off x="10067415" y="2558574"/>
            <a:ext cx="1043709" cy="2598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3" name="TextBox 152"/>
          <p:cNvSpPr txBox="1"/>
          <p:nvPr/>
        </p:nvSpPr>
        <p:spPr>
          <a:xfrm>
            <a:off x="10075705" y="2209464"/>
            <a:ext cx="1081606" cy="461665"/>
          </a:xfrm>
          <a:prstGeom prst="rect">
            <a:avLst/>
          </a:prstGeom>
          <a:noFill/>
        </p:spPr>
        <p:txBody>
          <a:bodyPr wrap="square" rtlCol="0">
            <a:spAutoFit/>
          </a:bodyPr>
          <a:lstStyle/>
          <a:p>
            <a:r>
              <a:rPr lang="en-US" sz="1200" dirty="0"/>
              <a:t>Vector (log</a:t>
            </a:r>
            <a:r>
              <a:rPr lang="el-GR" sz="1200" dirty="0"/>
              <a:t>σ</a:t>
            </a:r>
            <a:r>
              <a:rPr lang="en-US" sz="1200" baseline="30000" dirty="0"/>
              <a:t>2</a:t>
            </a:r>
            <a:r>
              <a:rPr lang="en-US" sz="1200" dirty="0"/>
              <a:t>)</a:t>
            </a:r>
            <a:endParaRPr lang="ru-RU" sz="1200" baseline="30000" dirty="0"/>
          </a:p>
          <a:p>
            <a:endParaRPr lang="ru-RU" sz="1200" dirty="0"/>
          </a:p>
        </p:txBody>
      </p:sp>
      <p:sp>
        <p:nvSpPr>
          <p:cNvPr id="154" name="TextBox 153"/>
          <p:cNvSpPr txBox="1"/>
          <p:nvPr/>
        </p:nvSpPr>
        <p:spPr>
          <a:xfrm>
            <a:off x="10489237" y="2560527"/>
            <a:ext cx="999836" cy="276999"/>
          </a:xfrm>
          <a:prstGeom prst="rect">
            <a:avLst/>
          </a:prstGeom>
          <a:noFill/>
        </p:spPr>
        <p:txBody>
          <a:bodyPr wrap="square" rtlCol="0">
            <a:spAutoFit/>
          </a:bodyPr>
          <a:lstStyle/>
          <a:p>
            <a:r>
              <a:rPr lang="en-US" sz="1200" dirty="0" smtClean="0"/>
              <a:t>Z *</a:t>
            </a:r>
            <a:endParaRPr lang="ru-RU" sz="1200" dirty="0"/>
          </a:p>
        </p:txBody>
      </p:sp>
      <p:sp>
        <p:nvSpPr>
          <p:cNvPr id="155" name="Овал 154"/>
          <p:cNvSpPr/>
          <p:nvPr/>
        </p:nvSpPr>
        <p:spPr>
          <a:xfrm>
            <a:off x="10075705" y="2905334"/>
            <a:ext cx="1043709" cy="25988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6" name="TextBox 155"/>
          <p:cNvSpPr txBox="1"/>
          <p:nvPr/>
        </p:nvSpPr>
        <p:spPr>
          <a:xfrm>
            <a:off x="10361082" y="2905333"/>
            <a:ext cx="691657" cy="276999"/>
          </a:xfrm>
          <a:prstGeom prst="rect">
            <a:avLst/>
          </a:prstGeom>
          <a:noFill/>
        </p:spPr>
        <p:txBody>
          <a:bodyPr wrap="square" rtlCol="0">
            <a:spAutoFit/>
          </a:bodyPr>
          <a:lstStyle/>
          <a:p>
            <a:r>
              <a:rPr lang="en-US" sz="1200" dirty="0" smtClean="0"/>
              <a:t>Loss *</a:t>
            </a:r>
            <a:endParaRPr lang="ru-RU" sz="1200" dirty="0"/>
          </a:p>
        </p:txBody>
      </p:sp>
      <p:cxnSp>
        <p:nvCxnSpPr>
          <p:cNvPr id="158" name="Прямая соединительная линия 157"/>
          <p:cNvCxnSpPr/>
          <p:nvPr/>
        </p:nvCxnSpPr>
        <p:spPr>
          <a:xfrm>
            <a:off x="11489073" y="1591769"/>
            <a:ext cx="0" cy="14435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0" name="Прямая со стрелкой 159"/>
          <p:cNvCxnSpPr>
            <a:endCxn id="155" idx="6"/>
          </p:cNvCxnSpPr>
          <p:nvPr/>
        </p:nvCxnSpPr>
        <p:spPr>
          <a:xfrm flipH="1">
            <a:off x="11119414" y="3035274"/>
            <a:ext cx="369659"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3" name="Прямая со стрелкой 162"/>
          <p:cNvCxnSpPr>
            <a:stCxn id="154" idx="3"/>
          </p:cNvCxnSpPr>
          <p:nvPr/>
        </p:nvCxnSpPr>
        <p:spPr>
          <a:xfrm flipH="1" flipV="1">
            <a:off x="11119414" y="2686656"/>
            <a:ext cx="369659" cy="1237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Прямая со стрелкой 164"/>
          <p:cNvCxnSpPr/>
          <p:nvPr/>
        </p:nvCxnSpPr>
        <p:spPr>
          <a:xfrm flipH="1" flipV="1">
            <a:off x="11111125" y="2344464"/>
            <a:ext cx="377948" cy="292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8" name="Прямая со стрелкой 167"/>
          <p:cNvCxnSpPr>
            <a:endCxn id="148" idx="6"/>
          </p:cNvCxnSpPr>
          <p:nvPr/>
        </p:nvCxnSpPr>
        <p:spPr>
          <a:xfrm flipH="1">
            <a:off x="11108327" y="1969579"/>
            <a:ext cx="377947"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9" name="Овал 168"/>
          <p:cNvSpPr/>
          <p:nvPr/>
        </p:nvSpPr>
        <p:spPr>
          <a:xfrm>
            <a:off x="9305168" y="2333874"/>
            <a:ext cx="195208" cy="20649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70" name="TextBox 169"/>
          <p:cNvSpPr txBox="1"/>
          <p:nvPr/>
        </p:nvSpPr>
        <p:spPr>
          <a:xfrm>
            <a:off x="9254324" y="2250407"/>
            <a:ext cx="373025" cy="369332"/>
          </a:xfrm>
          <a:prstGeom prst="rect">
            <a:avLst/>
          </a:prstGeom>
          <a:noFill/>
        </p:spPr>
        <p:txBody>
          <a:bodyPr wrap="square" rtlCol="0">
            <a:spAutoFit/>
          </a:bodyPr>
          <a:lstStyle/>
          <a:p>
            <a:r>
              <a:rPr lang="en-US" dirty="0" smtClean="0"/>
              <a:t>c</a:t>
            </a:r>
            <a:endParaRPr lang="ru-RU" dirty="0"/>
          </a:p>
        </p:txBody>
      </p:sp>
      <p:cxnSp>
        <p:nvCxnSpPr>
          <p:cNvPr id="172" name="Прямая со стрелкой 171"/>
          <p:cNvCxnSpPr>
            <a:stCxn id="155" idx="2"/>
            <a:endCxn id="169" idx="5"/>
          </p:cNvCxnSpPr>
          <p:nvPr/>
        </p:nvCxnSpPr>
        <p:spPr>
          <a:xfrm flipH="1" flipV="1">
            <a:off x="9471788" y="2510128"/>
            <a:ext cx="603917" cy="52514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4" name="Прямая со стрелкой 173"/>
          <p:cNvCxnSpPr>
            <a:stCxn id="152" idx="2"/>
          </p:cNvCxnSpPr>
          <p:nvPr/>
        </p:nvCxnSpPr>
        <p:spPr>
          <a:xfrm flipH="1" flipV="1">
            <a:off x="9500376" y="2460091"/>
            <a:ext cx="567039" cy="22842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0" name="Прямая со стрелкой 179"/>
          <p:cNvCxnSpPr>
            <a:stCxn id="151" idx="2"/>
          </p:cNvCxnSpPr>
          <p:nvPr/>
        </p:nvCxnSpPr>
        <p:spPr>
          <a:xfrm flipH="1">
            <a:off x="9500376" y="2347390"/>
            <a:ext cx="567041" cy="462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4" name="Прямая со стрелкой 183"/>
          <p:cNvCxnSpPr>
            <a:stCxn id="148" idx="2"/>
            <a:endCxn id="169" idx="7"/>
          </p:cNvCxnSpPr>
          <p:nvPr/>
        </p:nvCxnSpPr>
        <p:spPr>
          <a:xfrm flipH="1">
            <a:off x="9471788" y="1969579"/>
            <a:ext cx="592830" cy="3945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6" name="Прямая со стрелкой 185"/>
          <p:cNvCxnSpPr>
            <a:stCxn id="169" idx="4"/>
            <a:endCxn id="195" idx="0"/>
          </p:cNvCxnSpPr>
          <p:nvPr/>
        </p:nvCxnSpPr>
        <p:spPr>
          <a:xfrm>
            <a:off x="9402772" y="2540368"/>
            <a:ext cx="13667" cy="119392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7" name="Прямоугольник 186"/>
          <p:cNvSpPr/>
          <p:nvPr/>
        </p:nvSpPr>
        <p:spPr>
          <a:xfrm>
            <a:off x="10278327" y="3538804"/>
            <a:ext cx="1421656" cy="5894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8" name="TextBox 187"/>
          <p:cNvSpPr txBox="1"/>
          <p:nvPr/>
        </p:nvSpPr>
        <p:spPr>
          <a:xfrm>
            <a:off x="10234281" y="3490697"/>
            <a:ext cx="1465702" cy="646331"/>
          </a:xfrm>
          <a:prstGeom prst="rect">
            <a:avLst/>
          </a:prstGeom>
          <a:noFill/>
        </p:spPr>
        <p:txBody>
          <a:bodyPr wrap="square" rtlCol="0">
            <a:spAutoFit/>
          </a:bodyPr>
          <a:lstStyle/>
          <a:p>
            <a:pPr algn="ctr"/>
            <a:r>
              <a:rPr lang="en-US" dirty="0" smtClean="0"/>
              <a:t>Input</a:t>
            </a:r>
          </a:p>
          <a:p>
            <a:pPr algn="ctr"/>
            <a:r>
              <a:rPr lang="en-US" dirty="0" smtClean="0"/>
              <a:t>(</a:t>
            </a:r>
            <a:r>
              <a:rPr lang="en-US" dirty="0" err="1" smtClean="0"/>
              <a:t>x_minority</a:t>
            </a:r>
            <a:r>
              <a:rPr lang="en-US" dirty="0" smtClean="0"/>
              <a:t>)</a:t>
            </a:r>
            <a:endParaRPr lang="ru-RU" dirty="0"/>
          </a:p>
        </p:txBody>
      </p:sp>
      <p:cxnSp>
        <p:nvCxnSpPr>
          <p:cNvPr id="194" name="Прямая со стрелкой 193"/>
          <p:cNvCxnSpPr>
            <a:stCxn id="187" idx="1"/>
            <a:endCxn id="195" idx="6"/>
          </p:cNvCxnSpPr>
          <p:nvPr/>
        </p:nvCxnSpPr>
        <p:spPr>
          <a:xfrm flipH="1">
            <a:off x="9514043" y="3833521"/>
            <a:ext cx="764284" cy="4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5" name="Овал 194"/>
          <p:cNvSpPr/>
          <p:nvPr/>
        </p:nvSpPr>
        <p:spPr>
          <a:xfrm>
            <a:off x="9318835" y="3734295"/>
            <a:ext cx="195208" cy="199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6" name="TextBox 195"/>
          <p:cNvSpPr txBox="1"/>
          <p:nvPr/>
        </p:nvSpPr>
        <p:spPr>
          <a:xfrm>
            <a:off x="9274056" y="3638900"/>
            <a:ext cx="298663" cy="369332"/>
          </a:xfrm>
          <a:prstGeom prst="rect">
            <a:avLst/>
          </a:prstGeom>
          <a:noFill/>
        </p:spPr>
        <p:txBody>
          <a:bodyPr wrap="square" rtlCol="0">
            <a:spAutoFit/>
          </a:bodyPr>
          <a:lstStyle/>
          <a:p>
            <a:r>
              <a:rPr lang="en-US" dirty="0" smtClean="0"/>
              <a:t>c</a:t>
            </a:r>
            <a:endParaRPr lang="ru-RU" dirty="0"/>
          </a:p>
        </p:txBody>
      </p:sp>
      <p:sp>
        <p:nvSpPr>
          <p:cNvPr id="203" name="Прямоугольник 202"/>
          <p:cNvSpPr/>
          <p:nvPr/>
        </p:nvSpPr>
        <p:spPr>
          <a:xfrm>
            <a:off x="10278327" y="4401553"/>
            <a:ext cx="1421656" cy="5894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04" name="TextBox 203"/>
          <p:cNvSpPr txBox="1"/>
          <p:nvPr/>
        </p:nvSpPr>
        <p:spPr>
          <a:xfrm>
            <a:off x="10297681" y="4361179"/>
            <a:ext cx="1338901" cy="646331"/>
          </a:xfrm>
          <a:prstGeom prst="rect">
            <a:avLst/>
          </a:prstGeom>
          <a:noFill/>
        </p:spPr>
        <p:txBody>
          <a:bodyPr wrap="square" rtlCol="0">
            <a:spAutoFit/>
          </a:bodyPr>
          <a:lstStyle/>
          <a:p>
            <a:pPr algn="ctr"/>
            <a:r>
              <a:rPr lang="en-US" dirty="0" smtClean="0"/>
              <a:t>Input</a:t>
            </a:r>
          </a:p>
          <a:p>
            <a:pPr algn="ctr"/>
            <a:r>
              <a:rPr lang="en-US" dirty="0" smtClean="0"/>
              <a:t>(</a:t>
            </a:r>
            <a:r>
              <a:rPr lang="en-US" dirty="0" err="1" smtClean="0"/>
              <a:t>x_majority</a:t>
            </a:r>
            <a:r>
              <a:rPr lang="en-US" dirty="0" smtClean="0"/>
              <a:t>)</a:t>
            </a:r>
            <a:endParaRPr lang="ru-RU" dirty="0"/>
          </a:p>
        </p:txBody>
      </p:sp>
      <p:cxnSp>
        <p:nvCxnSpPr>
          <p:cNvPr id="208" name="Соединительная линия уступом 207"/>
          <p:cNvCxnSpPr>
            <a:stCxn id="203" idx="1"/>
            <a:endCxn id="195" idx="4"/>
          </p:cNvCxnSpPr>
          <p:nvPr/>
        </p:nvCxnSpPr>
        <p:spPr>
          <a:xfrm rot="10800000">
            <a:off x="9416439" y="3933616"/>
            <a:ext cx="861888" cy="76265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0" name="Прямая со стрелкой 209"/>
          <p:cNvCxnSpPr>
            <a:stCxn id="195" idx="2"/>
          </p:cNvCxnSpPr>
          <p:nvPr/>
        </p:nvCxnSpPr>
        <p:spPr>
          <a:xfrm flipH="1" flipV="1">
            <a:off x="8249456" y="3833521"/>
            <a:ext cx="1069379" cy="43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2" name="Прямоугольник 211"/>
          <p:cNvSpPr/>
          <p:nvPr/>
        </p:nvSpPr>
        <p:spPr>
          <a:xfrm>
            <a:off x="6836199" y="3547175"/>
            <a:ext cx="1421656" cy="5894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3" name="TextBox 212"/>
          <p:cNvSpPr txBox="1"/>
          <p:nvPr/>
        </p:nvSpPr>
        <p:spPr>
          <a:xfrm>
            <a:off x="6971345" y="3518726"/>
            <a:ext cx="1102999" cy="646331"/>
          </a:xfrm>
          <a:prstGeom prst="rect">
            <a:avLst/>
          </a:prstGeom>
          <a:noFill/>
        </p:spPr>
        <p:txBody>
          <a:bodyPr wrap="square" rtlCol="0">
            <a:spAutoFit/>
          </a:bodyPr>
          <a:lstStyle/>
          <a:p>
            <a:pPr algn="ctr"/>
            <a:r>
              <a:rPr lang="en-US" dirty="0" smtClean="0"/>
              <a:t>Balanced dataset</a:t>
            </a:r>
            <a:endParaRPr lang="ru-RU" dirty="0"/>
          </a:p>
        </p:txBody>
      </p:sp>
      <p:cxnSp>
        <p:nvCxnSpPr>
          <p:cNvPr id="215" name="Прямая со стрелкой 214"/>
          <p:cNvCxnSpPr>
            <a:stCxn id="212" idx="1"/>
          </p:cNvCxnSpPr>
          <p:nvPr/>
        </p:nvCxnSpPr>
        <p:spPr>
          <a:xfrm flipH="1" flipV="1">
            <a:off x="5970412" y="3841891"/>
            <a:ext cx="86578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6" name="Скругленный прямоугольник 215"/>
          <p:cNvSpPr/>
          <p:nvPr/>
        </p:nvSpPr>
        <p:spPr>
          <a:xfrm>
            <a:off x="4692073" y="3560156"/>
            <a:ext cx="1270431" cy="56808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17" name="TextBox 216"/>
          <p:cNvSpPr txBox="1"/>
          <p:nvPr/>
        </p:nvSpPr>
        <p:spPr>
          <a:xfrm>
            <a:off x="4822616" y="3510355"/>
            <a:ext cx="1150676" cy="646331"/>
          </a:xfrm>
          <a:prstGeom prst="rect">
            <a:avLst/>
          </a:prstGeom>
          <a:noFill/>
        </p:spPr>
        <p:txBody>
          <a:bodyPr wrap="square" rtlCol="0">
            <a:spAutoFit/>
          </a:bodyPr>
          <a:lstStyle/>
          <a:p>
            <a:r>
              <a:rPr lang="en-US" dirty="0" err="1" smtClean="0"/>
              <a:t>XGBoost</a:t>
            </a:r>
            <a:r>
              <a:rPr lang="en-US" dirty="0" smtClean="0"/>
              <a:t> Classifier</a:t>
            </a:r>
            <a:endParaRPr lang="ru-RU" dirty="0"/>
          </a:p>
        </p:txBody>
      </p:sp>
      <p:cxnSp>
        <p:nvCxnSpPr>
          <p:cNvPr id="219" name="Прямая со стрелкой 218"/>
          <p:cNvCxnSpPr>
            <a:stCxn id="216" idx="1"/>
          </p:cNvCxnSpPr>
          <p:nvPr/>
        </p:nvCxnSpPr>
        <p:spPr>
          <a:xfrm flipH="1" flipV="1">
            <a:off x="4054764" y="3841891"/>
            <a:ext cx="637309" cy="23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0" name="Овал 219"/>
          <p:cNvSpPr/>
          <p:nvPr/>
        </p:nvSpPr>
        <p:spPr>
          <a:xfrm>
            <a:off x="2909847" y="3631466"/>
            <a:ext cx="1134129" cy="4208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1" name="TextBox 220"/>
          <p:cNvSpPr txBox="1"/>
          <p:nvPr/>
        </p:nvSpPr>
        <p:spPr>
          <a:xfrm>
            <a:off x="2882484" y="3649522"/>
            <a:ext cx="1226448" cy="369332"/>
          </a:xfrm>
          <a:prstGeom prst="rect">
            <a:avLst/>
          </a:prstGeom>
          <a:noFill/>
        </p:spPr>
        <p:txBody>
          <a:bodyPr wrap="square" rtlCol="0">
            <a:spAutoFit/>
          </a:bodyPr>
          <a:lstStyle/>
          <a:p>
            <a:r>
              <a:rPr lang="en-US" dirty="0" smtClean="0"/>
              <a:t>predictions</a:t>
            </a:r>
            <a:endParaRPr lang="ru-RU" dirty="0"/>
          </a:p>
        </p:txBody>
      </p:sp>
      <p:sp>
        <p:nvSpPr>
          <p:cNvPr id="227" name="Скругленный прямоугольник 226"/>
          <p:cNvSpPr/>
          <p:nvPr/>
        </p:nvSpPr>
        <p:spPr>
          <a:xfrm>
            <a:off x="3146334" y="5281613"/>
            <a:ext cx="1166091" cy="3680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8" name="Скругленный прямоугольник 227"/>
          <p:cNvSpPr/>
          <p:nvPr/>
        </p:nvSpPr>
        <p:spPr>
          <a:xfrm>
            <a:off x="3146333" y="5918157"/>
            <a:ext cx="1166091" cy="368054"/>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29" name="TextBox 228"/>
          <p:cNvSpPr txBox="1"/>
          <p:nvPr/>
        </p:nvSpPr>
        <p:spPr>
          <a:xfrm>
            <a:off x="3277952" y="5280335"/>
            <a:ext cx="1034472" cy="369332"/>
          </a:xfrm>
          <a:prstGeom prst="rect">
            <a:avLst/>
          </a:prstGeom>
          <a:noFill/>
        </p:spPr>
        <p:txBody>
          <a:bodyPr wrap="square" rtlCol="0">
            <a:spAutoFit/>
          </a:bodyPr>
          <a:lstStyle/>
          <a:p>
            <a:r>
              <a:rPr lang="en-US" dirty="0" smtClean="0"/>
              <a:t>Encoder</a:t>
            </a:r>
            <a:endParaRPr lang="ru-RU" dirty="0"/>
          </a:p>
        </p:txBody>
      </p:sp>
      <p:sp>
        <p:nvSpPr>
          <p:cNvPr id="230" name="TextBox 229"/>
          <p:cNvSpPr txBox="1"/>
          <p:nvPr/>
        </p:nvSpPr>
        <p:spPr>
          <a:xfrm>
            <a:off x="3219842" y="5918157"/>
            <a:ext cx="1019071" cy="368054"/>
          </a:xfrm>
          <a:prstGeom prst="rect">
            <a:avLst/>
          </a:prstGeom>
          <a:noFill/>
        </p:spPr>
        <p:txBody>
          <a:bodyPr wrap="square" rtlCol="0">
            <a:spAutoFit/>
          </a:bodyPr>
          <a:lstStyle/>
          <a:p>
            <a:r>
              <a:rPr lang="en-US" dirty="0" smtClean="0"/>
              <a:t>Decoder</a:t>
            </a:r>
            <a:endParaRPr lang="ru-RU" dirty="0"/>
          </a:p>
        </p:txBody>
      </p:sp>
      <p:cxnSp>
        <p:nvCxnSpPr>
          <p:cNvPr id="232" name="Прямая со стрелкой 231"/>
          <p:cNvCxnSpPr>
            <a:stCxn id="229" idx="3"/>
          </p:cNvCxnSpPr>
          <p:nvPr/>
        </p:nvCxnSpPr>
        <p:spPr>
          <a:xfrm>
            <a:off x="4312424" y="5465001"/>
            <a:ext cx="468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3" name="Прямая со стрелкой 232"/>
          <p:cNvCxnSpPr/>
          <p:nvPr/>
        </p:nvCxnSpPr>
        <p:spPr>
          <a:xfrm>
            <a:off x="4314731" y="6111356"/>
            <a:ext cx="468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4" name="Овал 233"/>
          <p:cNvSpPr/>
          <p:nvPr/>
        </p:nvSpPr>
        <p:spPr>
          <a:xfrm>
            <a:off x="4781171" y="5280336"/>
            <a:ext cx="1431383" cy="37587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5" name="Овал 234"/>
          <p:cNvSpPr/>
          <p:nvPr/>
        </p:nvSpPr>
        <p:spPr>
          <a:xfrm>
            <a:off x="4772957" y="5918156"/>
            <a:ext cx="1439597" cy="43735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36" name="TextBox 235"/>
          <p:cNvSpPr txBox="1"/>
          <p:nvPr/>
        </p:nvSpPr>
        <p:spPr>
          <a:xfrm>
            <a:off x="4772957" y="5335115"/>
            <a:ext cx="2295295" cy="276999"/>
          </a:xfrm>
          <a:prstGeom prst="rect">
            <a:avLst/>
          </a:prstGeom>
          <a:noFill/>
        </p:spPr>
        <p:txBody>
          <a:bodyPr wrap="square" rtlCol="0">
            <a:spAutoFit/>
          </a:bodyPr>
          <a:lstStyle/>
          <a:p>
            <a:r>
              <a:rPr lang="en-US" sz="1200" dirty="0" err="1" smtClean="0"/>
              <a:t>ReLU</a:t>
            </a:r>
            <a:r>
              <a:rPr lang="en-US" sz="1200" dirty="0" smtClean="0"/>
              <a:t> (</a:t>
            </a:r>
            <a:r>
              <a:rPr lang="en-US" sz="1200" dirty="0" err="1" smtClean="0"/>
              <a:t>input_dim</a:t>
            </a:r>
            <a:r>
              <a:rPr lang="en-US" sz="1200" dirty="0" smtClean="0"/>
              <a:t>, 64)</a:t>
            </a:r>
            <a:endParaRPr lang="ru-RU" sz="1200" dirty="0"/>
          </a:p>
        </p:txBody>
      </p:sp>
      <p:sp>
        <p:nvSpPr>
          <p:cNvPr id="237" name="TextBox 236"/>
          <p:cNvSpPr txBox="1"/>
          <p:nvPr/>
        </p:nvSpPr>
        <p:spPr>
          <a:xfrm>
            <a:off x="5031380" y="5998331"/>
            <a:ext cx="1507329" cy="276999"/>
          </a:xfrm>
          <a:prstGeom prst="rect">
            <a:avLst/>
          </a:prstGeom>
          <a:noFill/>
        </p:spPr>
        <p:txBody>
          <a:bodyPr wrap="square" rtlCol="0">
            <a:spAutoFit/>
          </a:bodyPr>
          <a:lstStyle/>
          <a:p>
            <a:r>
              <a:rPr lang="en-US" sz="1200" dirty="0" smtClean="0"/>
              <a:t>Sigmoid (z)</a:t>
            </a:r>
            <a:endParaRPr lang="ru-RU" sz="1200" dirty="0"/>
          </a:p>
        </p:txBody>
      </p:sp>
      <p:sp>
        <p:nvSpPr>
          <p:cNvPr id="239" name="Прямоугольник 238"/>
          <p:cNvSpPr/>
          <p:nvPr/>
        </p:nvSpPr>
        <p:spPr>
          <a:xfrm>
            <a:off x="9423387" y="1098761"/>
            <a:ext cx="2348343" cy="48417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4" name="Овал 243"/>
          <p:cNvSpPr/>
          <p:nvPr/>
        </p:nvSpPr>
        <p:spPr>
          <a:xfrm>
            <a:off x="6719817" y="5280336"/>
            <a:ext cx="1043709" cy="37587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5" name="TextBox 244"/>
          <p:cNvSpPr txBox="1"/>
          <p:nvPr/>
        </p:nvSpPr>
        <p:spPr>
          <a:xfrm>
            <a:off x="6841786" y="5328024"/>
            <a:ext cx="799769" cy="276999"/>
          </a:xfrm>
          <a:prstGeom prst="rect">
            <a:avLst/>
          </a:prstGeom>
          <a:noFill/>
        </p:spPr>
        <p:txBody>
          <a:bodyPr wrap="square" rtlCol="0">
            <a:spAutoFit/>
          </a:bodyPr>
          <a:lstStyle/>
          <a:p>
            <a:r>
              <a:rPr lang="en-US" sz="1200" dirty="0"/>
              <a:t>Vector (</a:t>
            </a:r>
            <a:r>
              <a:rPr lang="el-GR" sz="1200" dirty="0"/>
              <a:t>μ</a:t>
            </a:r>
            <a:r>
              <a:rPr lang="en-US" sz="1200" dirty="0"/>
              <a:t>)</a:t>
            </a:r>
            <a:endParaRPr lang="ru-RU" sz="1200" dirty="0"/>
          </a:p>
        </p:txBody>
      </p:sp>
      <p:sp>
        <p:nvSpPr>
          <p:cNvPr id="246" name="Овал 245"/>
          <p:cNvSpPr/>
          <p:nvPr/>
        </p:nvSpPr>
        <p:spPr>
          <a:xfrm>
            <a:off x="6719815" y="5918157"/>
            <a:ext cx="1043709" cy="4373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47" name="TextBox 246"/>
          <p:cNvSpPr txBox="1"/>
          <p:nvPr/>
        </p:nvSpPr>
        <p:spPr>
          <a:xfrm>
            <a:off x="6772438" y="5986176"/>
            <a:ext cx="1209279" cy="646331"/>
          </a:xfrm>
          <a:prstGeom prst="rect">
            <a:avLst/>
          </a:prstGeom>
          <a:noFill/>
        </p:spPr>
        <p:txBody>
          <a:bodyPr wrap="square" rtlCol="0">
            <a:spAutoFit/>
          </a:bodyPr>
          <a:lstStyle/>
          <a:p>
            <a:r>
              <a:rPr lang="en-US" sz="1200" dirty="0"/>
              <a:t>Vector (log</a:t>
            </a:r>
            <a:r>
              <a:rPr lang="el-GR" sz="1200" dirty="0"/>
              <a:t>σ</a:t>
            </a:r>
            <a:r>
              <a:rPr lang="en-US" sz="1200" baseline="30000" dirty="0"/>
              <a:t>2</a:t>
            </a:r>
            <a:r>
              <a:rPr lang="en-US" sz="1200" dirty="0"/>
              <a:t>)</a:t>
            </a:r>
            <a:endParaRPr lang="ru-RU" sz="1200" baseline="30000" dirty="0"/>
          </a:p>
          <a:p>
            <a:endParaRPr lang="ru-RU" sz="1200" dirty="0"/>
          </a:p>
          <a:p>
            <a:endParaRPr lang="ru-RU" sz="1200" dirty="0"/>
          </a:p>
        </p:txBody>
      </p:sp>
      <p:cxnSp>
        <p:nvCxnSpPr>
          <p:cNvPr id="248" name="Прямая со стрелкой 247"/>
          <p:cNvCxnSpPr/>
          <p:nvPr/>
        </p:nvCxnSpPr>
        <p:spPr>
          <a:xfrm>
            <a:off x="7763524" y="5465001"/>
            <a:ext cx="468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9" name="Прямая со стрелкой 248"/>
          <p:cNvCxnSpPr/>
          <p:nvPr/>
        </p:nvCxnSpPr>
        <p:spPr>
          <a:xfrm>
            <a:off x="7763524" y="6136830"/>
            <a:ext cx="46874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0" name="Прямоугольник 249"/>
          <p:cNvSpPr/>
          <p:nvPr/>
        </p:nvSpPr>
        <p:spPr>
          <a:xfrm>
            <a:off x="8232271" y="5280335"/>
            <a:ext cx="1391189" cy="3758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1" name="Прямоугольник 250"/>
          <p:cNvSpPr/>
          <p:nvPr/>
        </p:nvSpPr>
        <p:spPr>
          <a:xfrm>
            <a:off x="8232271" y="5948891"/>
            <a:ext cx="1391189" cy="37587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2" name="TextBox 251"/>
          <p:cNvSpPr txBox="1"/>
          <p:nvPr/>
        </p:nvSpPr>
        <p:spPr>
          <a:xfrm>
            <a:off x="8232271" y="5349802"/>
            <a:ext cx="2479033" cy="276999"/>
          </a:xfrm>
          <a:prstGeom prst="rect">
            <a:avLst/>
          </a:prstGeom>
          <a:noFill/>
        </p:spPr>
        <p:txBody>
          <a:bodyPr wrap="square" rtlCol="0">
            <a:spAutoFit/>
          </a:bodyPr>
          <a:lstStyle/>
          <a:p>
            <a:r>
              <a:rPr lang="en-US" sz="1200" dirty="0" smtClean="0"/>
              <a:t>Linear </a:t>
            </a:r>
            <a:r>
              <a:rPr lang="en-US" sz="1000" dirty="0" smtClean="0"/>
              <a:t>(64, </a:t>
            </a:r>
            <a:r>
              <a:rPr lang="en-US" sz="1000" dirty="0" err="1" smtClean="0"/>
              <a:t>latent_dim</a:t>
            </a:r>
            <a:r>
              <a:rPr lang="en-US" sz="1000" dirty="0" smtClean="0"/>
              <a:t>)</a:t>
            </a:r>
            <a:endParaRPr lang="ru-RU" sz="1000" dirty="0"/>
          </a:p>
        </p:txBody>
      </p:sp>
      <p:sp>
        <p:nvSpPr>
          <p:cNvPr id="253" name="TextBox 252"/>
          <p:cNvSpPr txBox="1"/>
          <p:nvPr/>
        </p:nvSpPr>
        <p:spPr>
          <a:xfrm>
            <a:off x="8232271" y="6013018"/>
            <a:ext cx="2479033" cy="276999"/>
          </a:xfrm>
          <a:prstGeom prst="rect">
            <a:avLst/>
          </a:prstGeom>
          <a:noFill/>
        </p:spPr>
        <p:txBody>
          <a:bodyPr wrap="square" rtlCol="0">
            <a:spAutoFit/>
          </a:bodyPr>
          <a:lstStyle/>
          <a:p>
            <a:r>
              <a:rPr lang="en-US" sz="1200" dirty="0" smtClean="0"/>
              <a:t>Linear </a:t>
            </a:r>
            <a:r>
              <a:rPr lang="en-US" sz="1000" dirty="0" smtClean="0"/>
              <a:t>(64, </a:t>
            </a:r>
            <a:r>
              <a:rPr lang="en-US" sz="1000" dirty="0" err="1" smtClean="0"/>
              <a:t>latent_dim</a:t>
            </a:r>
            <a:r>
              <a:rPr lang="en-US" sz="1000" dirty="0" smtClean="0"/>
              <a:t>)</a:t>
            </a:r>
            <a:endParaRPr lang="ru-RU" sz="1000" dirty="0"/>
          </a:p>
        </p:txBody>
      </p:sp>
      <p:sp>
        <p:nvSpPr>
          <p:cNvPr id="254" name="TextBox 253"/>
          <p:cNvSpPr txBox="1"/>
          <p:nvPr/>
        </p:nvSpPr>
        <p:spPr>
          <a:xfrm>
            <a:off x="500839" y="4580360"/>
            <a:ext cx="2759911" cy="1815882"/>
          </a:xfrm>
          <a:prstGeom prst="rect">
            <a:avLst/>
          </a:prstGeom>
          <a:noFill/>
        </p:spPr>
        <p:txBody>
          <a:bodyPr wrap="square" rtlCol="0">
            <a:spAutoFit/>
          </a:bodyPr>
          <a:lstStyle/>
          <a:p>
            <a:r>
              <a:rPr lang="en-US" sz="1400" dirty="0" err="1" smtClean="0"/>
              <a:t>X_minority</a:t>
            </a:r>
            <a:r>
              <a:rPr lang="en-US" sz="1400" dirty="0" smtClean="0"/>
              <a:t> = 8000</a:t>
            </a:r>
          </a:p>
          <a:p>
            <a:r>
              <a:rPr lang="en-US" sz="1400" dirty="0" err="1" smtClean="0"/>
              <a:t>X_majority</a:t>
            </a:r>
            <a:r>
              <a:rPr lang="en-US" sz="1400" dirty="0" smtClean="0"/>
              <a:t> = 28000</a:t>
            </a:r>
          </a:p>
          <a:p>
            <a:r>
              <a:rPr lang="en-US" sz="1400" dirty="0" err="1" smtClean="0"/>
              <a:t>Input_dim</a:t>
            </a:r>
            <a:r>
              <a:rPr lang="en-US" sz="1400" dirty="0" smtClean="0"/>
              <a:t> = 21</a:t>
            </a:r>
          </a:p>
          <a:p>
            <a:r>
              <a:rPr lang="en-US" sz="1400" dirty="0" err="1" smtClean="0"/>
              <a:t>Latent_dim</a:t>
            </a:r>
            <a:r>
              <a:rPr lang="en-US" sz="1400" dirty="0" smtClean="0"/>
              <a:t> = 8</a:t>
            </a:r>
          </a:p>
          <a:p>
            <a:r>
              <a:rPr lang="en-US" sz="1400" dirty="0" smtClean="0"/>
              <a:t>Batch = 64</a:t>
            </a:r>
          </a:p>
          <a:p>
            <a:r>
              <a:rPr lang="en-US" sz="1400" dirty="0" smtClean="0"/>
              <a:t>Z * -&gt; Z </a:t>
            </a:r>
            <a:r>
              <a:rPr lang="en-US" sz="1400" dirty="0" err="1" smtClean="0"/>
              <a:t>reparameterized</a:t>
            </a:r>
            <a:endParaRPr lang="en-US" sz="1400" dirty="0" smtClean="0"/>
          </a:p>
          <a:p>
            <a:r>
              <a:rPr lang="en-US" sz="1400" dirty="0" smtClean="0"/>
              <a:t>Z* -&gt; (</a:t>
            </a:r>
            <a:r>
              <a:rPr lang="en-US" sz="1400" dirty="0" err="1" smtClean="0"/>
              <a:t>latent_dim</a:t>
            </a:r>
            <a:r>
              <a:rPr lang="en-US" sz="1400" dirty="0" smtClean="0"/>
              <a:t>, batch)</a:t>
            </a:r>
          </a:p>
          <a:p>
            <a:r>
              <a:rPr lang="en-US" sz="1400" dirty="0" smtClean="0"/>
              <a:t>Loss = MSE + KDL</a:t>
            </a:r>
            <a:endParaRPr lang="ru-RU" sz="1400" dirty="0"/>
          </a:p>
        </p:txBody>
      </p:sp>
      <p:sp>
        <p:nvSpPr>
          <p:cNvPr id="255" name="Овал 254"/>
          <p:cNvSpPr/>
          <p:nvPr/>
        </p:nvSpPr>
        <p:spPr>
          <a:xfrm>
            <a:off x="9985073" y="5349802"/>
            <a:ext cx="222723" cy="24088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56" name="TextBox 255"/>
          <p:cNvSpPr txBox="1"/>
          <p:nvPr/>
        </p:nvSpPr>
        <p:spPr>
          <a:xfrm>
            <a:off x="10207796" y="5349802"/>
            <a:ext cx="1307414" cy="276999"/>
          </a:xfrm>
          <a:prstGeom prst="rect">
            <a:avLst/>
          </a:prstGeom>
          <a:noFill/>
        </p:spPr>
        <p:txBody>
          <a:bodyPr wrap="square" rtlCol="0">
            <a:spAutoFit/>
          </a:bodyPr>
          <a:lstStyle/>
          <a:p>
            <a:r>
              <a:rPr lang="en-US" sz="1200" dirty="0"/>
              <a:t>- concatenation</a:t>
            </a:r>
            <a:endParaRPr lang="ru-RU" sz="1200" dirty="0"/>
          </a:p>
        </p:txBody>
      </p:sp>
      <p:sp>
        <p:nvSpPr>
          <p:cNvPr id="258" name="TextBox 257"/>
          <p:cNvSpPr txBox="1"/>
          <p:nvPr/>
        </p:nvSpPr>
        <p:spPr>
          <a:xfrm>
            <a:off x="9950669" y="5277786"/>
            <a:ext cx="194007" cy="369332"/>
          </a:xfrm>
          <a:prstGeom prst="rect">
            <a:avLst/>
          </a:prstGeom>
          <a:noFill/>
        </p:spPr>
        <p:txBody>
          <a:bodyPr wrap="square" rtlCol="0">
            <a:spAutoFit/>
          </a:bodyPr>
          <a:lstStyle/>
          <a:p>
            <a:r>
              <a:rPr lang="en-US" dirty="0" smtClean="0"/>
              <a:t>c</a:t>
            </a:r>
            <a:endParaRPr lang="ru-RU" dirty="0"/>
          </a:p>
        </p:txBody>
      </p:sp>
    </p:spTree>
    <p:extLst>
      <p:ext uri="{BB962C8B-B14F-4D97-AF65-F5344CB8AC3E}">
        <p14:creationId xmlns:p14="http://schemas.microsoft.com/office/powerpoint/2010/main" val="2321191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Diffusion </a:t>
            </a:r>
            <a:r>
              <a:rPr lang="ru-RU" dirty="0" smtClean="0"/>
              <a:t>(</a:t>
            </a:r>
            <a:r>
              <a:rPr lang="en-US" dirty="0" smtClean="0"/>
              <a:t>theory)</a:t>
            </a:r>
            <a:endParaRPr lang="ru-RU" dirty="0"/>
          </a:p>
        </p:txBody>
      </p:sp>
      <p:sp>
        <p:nvSpPr>
          <p:cNvPr id="3" name="Объект 2"/>
          <p:cNvSpPr>
            <a:spLocks noGrp="1"/>
          </p:cNvSpPr>
          <p:nvPr>
            <p:ph idx="1"/>
          </p:nvPr>
        </p:nvSpPr>
        <p:spPr/>
        <p:txBody>
          <a:bodyPr>
            <a:normAutofit/>
          </a:bodyPr>
          <a:lstStyle/>
          <a:p>
            <a:pPr marL="0" indent="0">
              <a:buNone/>
            </a:pPr>
            <a:r>
              <a:rPr lang="en-US" sz="2000" dirty="0"/>
              <a:t>Diffusion models </a:t>
            </a:r>
            <a:r>
              <a:rPr lang="ru-RU" sz="2000" dirty="0" smtClean="0"/>
              <a:t>- </a:t>
            </a:r>
            <a:r>
              <a:rPr lang="en-US" sz="2000" dirty="0" smtClean="0"/>
              <a:t>a </a:t>
            </a:r>
            <a:r>
              <a:rPr lang="en-US" sz="2000" dirty="0"/>
              <a:t>class of generative models that learn to gradually transform random noise into meaningful data</a:t>
            </a:r>
            <a:r>
              <a:rPr lang="en-US" sz="2000" dirty="0" smtClean="0"/>
              <a:t>.</a:t>
            </a:r>
            <a:r>
              <a:rPr lang="ru-RU" sz="2000" dirty="0" smtClean="0"/>
              <a:t> </a:t>
            </a:r>
            <a:r>
              <a:rPr lang="en-US" sz="1100" dirty="0" smtClean="0"/>
              <a:t>[1] </a:t>
            </a:r>
            <a:r>
              <a:rPr lang="en-US" sz="2000" dirty="0" smtClean="0"/>
              <a:t>Consists of two processes:</a:t>
            </a:r>
          </a:p>
          <a:p>
            <a:pPr marL="0" indent="0">
              <a:buNone/>
            </a:pPr>
            <a:r>
              <a:rPr lang="en-US" sz="2000" dirty="0" smtClean="0"/>
              <a:t>1) </a:t>
            </a:r>
            <a:r>
              <a:rPr lang="en-US" sz="2000" i="1" dirty="0" smtClean="0"/>
              <a:t>Forward </a:t>
            </a:r>
            <a:r>
              <a:rPr lang="en-US" sz="2000" i="1" dirty="0"/>
              <a:t>diffusion </a:t>
            </a:r>
            <a:r>
              <a:rPr lang="en-US" sz="2000" dirty="0"/>
              <a:t>- The model consistently adds noise to the </a:t>
            </a:r>
            <a:r>
              <a:rPr lang="en-US" sz="2000" dirty="0" smtClean="0"/>
              <a:t>data and after </a:t>
            </a:r>
            <a:r>
              <a:rPr lang="en-US" sz="2000" dirty="0"/>
              <a:t>a large number of </a:t>
            </a:r>
            <a:r>
              <a:rPr lang="en-US" sz="2000" dirty="0" smtClean="0"/>
              <a:t>steps t</a:t>
            </a:r>
            <a:r>
              <a:rPr lang="en-US" sz="2000" dirty="0"/>
              <a:t>, the data turns into almost pure noise</a:t>
            </a:r>
            <a:r>
              <a:rPr lang="en-US" sz="2000" dirty="0" smtClean="0"/>
              <a:t>.</a:t>
            </a:r>
          </a:p>
          <a:p>
            <a:pPr marL="0" indent="0">
              <a:buNone/>
            </a:pPr>
            <a:r>
              <a:rPr lang="en-US" sz="2000" dirty="0" smtClean="0"/>
              <a:t>2</a:t>
            </a:r>
            <a:r>
              <a:rPr lang="en-US" sz="2000" dirty="0"/>
              <a:t>) </a:t>
            </a:r>
            <a:r>
              <a:rPr lang="en-US" sz="2000" i="1" dirty="0"/>
              <a:t>Reverse </a:t>
            </a:r>
            <a:r>
              <a:rPr lang="en-US" sz="2000" i="1" dirty="0" err="1" smtClean="0"/>
              <a:t>denoising</a:t>
            </a:r>
            <a:r>
              <a:rPr lang="en-US" sz="2000" i="1" dirty="0"/>
              <a:t> </a:t>
            </a:r>
            <a:r>
              <a:rPr lang="en-US" sz="2000" dirty="0"/>
              <a:t>- </a:t>
            </a:r>
            <a:r>
              <a:rPr lang="en-US" sz="2000" dirty="0" smtClean="0"/>
              <a:t>a </a:t>
            </a:r>
            <a:r>
              <a:rPr lang="en-US" sz="2000" dirty="0"/>
              <a:t>neural network is trained to step-by-step clean up noise, restoring the data structure, and predict the noise that needs to be removed</a:t>
            </a:r>
            <a:r>
              <a:rPr lang="en-US" sz="2000" dirty="0" smtClean="0"/>
              <a:t>. The </a:t>
            </a:r>
            <a:r>
              <a:rPr lang="en-US" sz="2000" dirty="0"/>
              <a:t>model learns to "walk backwards"—from noise → to the original data distribution</a:t>
            </a:r>
            <a:r>
              <a:rPr lang="en-US" sz="2000" dirty="0" smtClean="0"/>
              <a:t>. </a:t>
            </a:r>
            <a:r>
              <a:rPr lang="en-US" sz="1100" dirty="0" smtClean="0"/>
              <a:t>[2]</a:t>
            </a:r>
          </a:p>
          <a:p>
            <a:pPr marL="0" indent="0">
              <a:buNone/>
            </a:pPr>
            <a:r>
              <a:rPr lang="en-US" sz="2000" dirty="0" smtClean="0"/>
              <a:t>Training </a:t>
            </a:r>
            <a:r>
              <a:rPr lang="en-US" sz="1050" dirty="0" smtClean="0"/>
              <a:t>[5]</a:t>
            </a:r>
            <a:endParaRPr lang="en-US" sz="2000" dirty="0" smtClean="0"/>
          </a:p>
          <a:p>
            <a:pPr marL="0" indent="0">
              <a:buNone/>
            </a:pPr>
            <a:r>
              <a:rPr lang="en-US" sz="2000" dirty="0" smtClean="0"/>
              <a:t>1) We </a:t>
            </a:r>
            <a:r>
              <a:rPr lang="en-US" sz="2000" dirty="0"/>
              <a:t>take a real example </a:t>
            </a:r>
            <a:r>
              <a:rPr lang="en-US" sz="2000" dirty="0" smtClean="0"/>
              <a:t>x</a:t>
            </a:r>
            <a:r>
              <a:rPr lang="en-US" sz="1100" dirty="0" smtClean="0"/>
              <a:t>0 </a:t>
            </a:r>
          </a:p>
          <a:p>
            <a:pPr marL="0" indent="0">
              <a:buNone/>
            </a:pPr>
            <a:r>
              <a:rPr lang="en-US" sz="2000" dirty="0" smtClean="0"/>
              <a:t>2) We </a:t>
            </a:r>
            <a:r>
              <a:rPr lang="en-US" sz="2000" dirty="0"/>
              <a:t>add noise at the random stage t</a:t>
            </a:r>
            <a:r>
              <a:rPr lang="en-US" sz="1100" dirty="0"/>
              <a:t>0</a:t>
            </a:r>
            <a:endParaRPr lang="ru-RU" sz="1100" dirty="0" smtClean="0"/>
          </a:p>
          <a:p>
            <a:pPr marL="0" indent="0">
              <a:buNone/>
            </a:pPr>
            <a:r>
              <a:rPr lang="en-US" sz="2000" dirty="0"/>
              <a:t>3) The model learns to </a:t>
            </a:r>
            <a:r>
              <a:rPr lang="en-US" sz="2000" dirty="0" smtClean="0"/>
              <a:t>predict </a:t>
            </a:r>
            <a:r>
              <a:rPr lang="en-US" sz="2000" dirty="0"/>
              <a:t>noise </a:t>
            </a:r>
            <a:r>
              <a:rPr lang="en-US" sz="2000" dirty="0" smtClean="0"/>
              <a:t>ϵ</a:t>
            </a:r>
          </a:p>
          <a:p>
            <a:pPr marL="0" indent="0">
              <a:buNone/>
            </a:pPr>
            <a:r>
              <a:rPr lang="en-US" sz="2000" dirty="0" smtClean="0"/>
              <a:t>Loss function: </a:t>
            </a:r>
            <a:endParaRPr lang="ru-RU" sz="2000" dirty="0"/>
          </a:p>
        </p:txBody>
      </p:sp>
      <p:pic>
        <p:nvPicPr>
          <p:cNvPr id="4" name="Рисунок 3"/>
          <p:cNvPicPr>
            <a:picLocks noChangeAspect="1"/>
          </p:cNvPicPr>
          <p:nvPr/>
        </p:nvPicPr>
        <p:blipFill>
          <a:blip r:embed="rId2"/>
          <a:stretch>
            <a:fillRect/>
          </a:stretch>
        </p:blipFill>
        <p:spPr>
          <a:xfrm>
            <a:off x="5769441" y="2777244"/>
            <a:ext cx="3284505" cy="342930"/>
          </a:xfrm>
          <a:prstGeom prst="rect">
            <a:avLst/>
          </a:prstGeom>
        </p:spPr>
      </p:pic>
      <p:pic>
        <p:nvPicPr>
          <p:cNvPr id="5" name="Рисунок 4"/>
          <p:cNvPicPr>
            <a:picLocks noChangeAspect="1"/>
          </p:cNvPicPr>
          <p:nvPr/>
        </p:nvPicPr>
        <p:blipFill>
          <a:blip r:embed="rId3"/>
          <a:stretch>
            <a:fillRect/>
          </a:stretch>
        </p:blipFill>
        <p:spPr>
          <a:xfrm>
            <a:off x="6040582" y="3721243"/>
            <a:ext cx="769687" cy="350550"/>
          </a:xfrm>
          <a:prstGeom prst="rect">
            <a:avLst/>
          </a:prstGeom>
        </p:spPr>
      </p:pic>
      <p:pic>
        <p:nvPicPr>
          <p:cNvPr id="6" name="Рисунок 5"/>
          <p:cNvPicPr>
            <a:picLocks noChangeAspect="1"/>
          </p:cNvPicPr>
          <p:nvPr/>
        </p:nvPicPr>
        <p:blipFill>
          <a:blip r:embed="rId4"/>
          <a:stretch>
            <a:fillRect/>
          </a:stretch>
        </p:blipFill>
        <p:spPr>
          <a:xfrm>
            <a:off x="2141736" y="4071793"/>
            <a:ext cx="2042337" cy="445531"/>
          </a:xfrm>
          <a:prstGeom prst="rect">
            <a:avLst/>
          </a:prstGeom>
        </p:spPr>
      </p:pic>
      <p:pic>
        <p:nvPicPr>
          <p:cNvPr id="7" name="Рисунок 6"/>
          <p:cNvPicPr>
            <a:picLocks noChangeAspect="1"/>
          </p:cNvPicPr>
          <p:nvPr/>
        </p:nvPicPr>
        <p:blipFill>
          <a:blip r:embed="rId5"/>
          <a:stretch>
            <a:fillRect/>
          </a:stretch>
        </p:blipFill>
        <p:spPr>
          <a:xfrm>
            <a:off x="2665999" y="5737260"/>
            <a:ext cx="1798476" cy="434378"/>
          </a:xfrm>
          <a:prstGeom prst="rect">
            <a:avLst/>
          </a:prstGeom>
        </p:spPr>
      </p:pic>
      <p:pic>
        <p:nvPicPr>
          <p:cNvPr id="8" name="Рисунок 7"/>
          <p:cNvPicPr>
            <a:picLocks noChangeAspect="1"/>
          </p:cNvPicPr>
          <p:nvPr/>
        </p:nvPicPr>
        <p:blipFill>
          <a:blip r:embed="rId6"/>
          <a:stretch>
            <a:fillRect/>
          </a:stretch>
        </p:blipFill>
        <p:spPr>
          <a:xfrm>
            <a:off x="4972509" y="4071793"/>
            <a:ext cx="4162256" cy="2339681"/>
          </a:xfrm>
          <a:prstGeom prst="rect">
            <a:avLst/>
          </a:prstGeom>
        </p:spPr>
      </p:pic>
      <p:pic>
        <p:nvPicPr>
          <p:cNvPr id="9" name="Рисунок 8"/>
          <p:cNvPicPr>
            <a:picLocks noChangeAspect="1"/>
          </p:cNvPicPr>
          <p:nvPr/>
        </p:nvPicPr>
        <p:blipFill rotWithShape="1">
          <a:blip r:embed="rId7"/>
          <a:srcRect l="4742" r="2795"/>
          <a:stretch/>
        </p:blipFill>
        <p:spPr>
          <a:xfrm>
            <a:off x="9134765" y="4167004"/>
            <a:ext cx="2521527" cy="2244470"/>
          </a:xfrm>
          <a:prstGeom prst="rect">
            <a:avLst/>
          </a:prstGeom>
        </p:spPr>
      </p:pic>
    </p:spTree>
    <p:extLst>
      <p:ext uri="{BB962C8B-B14F-4D97-AF65-F5344CB8AC3E}">
        <p14:creationId xmlns:p14="http://schemas.microsoft.com/office/powerpoint/2010/main" val="1232401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Прямоугольник 239"/>
          <p:cNvSpPr/>
          <p:nvPr/>
        </p:nvSpPr>
        <p:spPr>
          <a:xfrm>
            <a:off x="5708073" y="3776840"/>
            <a:ext cx="5856324" cy="1709559"/>
          </a:xfrm>
          <a:prstGeom prst="rect">
            <a:avLst/>
          </a:prstGeom>
          <a:solidFill>
            <a:srgbClr val="FADEF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8" name="Прямоугольник 127"/>
          <p:cNvSpPr/>
          <p:nvPr/>
        </p:nvSpPr>
        <p:spPr>
          <a:xfrm>
            <a:off x="1852945" y="785372"/>
            <a:ext cx="7692861" cy="2594679"/>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0" name="Прямоугольник 129"/>
          <p:cNvSpPr/>
          <p:nvPr/>
        </p:nvSpPr>
        <p:spPr>
          <a:xfrm>
            <a:off x="1958108" y="1128511"/>
            <a:ext cx="7476065" cy="1309500"/>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 name="Заголовок 1"/>
          <p:cNvSpPr>
            <a:spLocks noGrp="1"/>
          </p:cNvSpPr>
          <p:nvPr>
            <p:ph type="title"/>
          </p:nvPr>
        </p:nvSpPr>
        <p:spPr>
          <a:xfrm>
            <a:off x="140687" y="96477"/>
            <a:ext cx="4767384" cy="452657"/>
          </a:xfrm>
        </p:spPr>
        <p:txBody>
          <a:bodyPr>
            <a:normAutofit fontScale="90000"/>
          </a:bodyPr>
          <a:lstStyle/>
          <a:p>
            <a:r>
              <a:rPr lang="en-US" dirty="0" smtClean="0"/>
              <a:t>Diffusion (realization)</a:t>
            </a:r>
            <a:endParaRPr lang="ru-RU" dirty="0"/>
          </a:p>
        </p:txBody>
      </p:sp>
      <p:sp>
        <p:nvSpPr>
          <p:cNvPr id="4" name="Прямоугольник 3"/>
          <p:cNvSpPr/>
          <p:nvPr/>
        </p:nvSpPr>
        <p:spPr>
          <a:xfrm>
            <a:off x="156868" y="2456227"/>
            <a:ext cx="1482566" cy="63730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 name="TextBox 4"/>
          <p:cNvSpPr txBox="1"/>
          <p:nvPr/>
        </p:nvSpPr>
        <p:spPr>
          <a:xfrm>
            <a:off x="202288" y="2451715"/>
            <a:ext cx="1325514" cy="646331"/>
          </a:xfrm>
          <a:prstGeom prst="rect">
            <a:avLst/>
          </a:prstGeom>
          <a:noFill/>
        </p:spPr>
        <p:txBody>
          <a:bodyPr wrap="square" rtlCol="0">
            <a:spAutoFit/>
          </a:bodyPr>
          <a:lstStyle/>
          <a:p>
            <a:pPr algn="ctr"/>
            <a:r>
              <a:rPr lang="en-US" dirty="0" smtClean="0"/>
              <a:t>Input (</a:t>
            </a:r>
            <a:r>
              <a:rPr lang="en-US" dirty="0" err="1" smtClean="0"/>
              <a:t>x_minority</a:t>
            </a:r>
            <a:r>
              <a:rPr lang="en-US" dirty="0" smtClean="0"/>
              <a:t>)</a:t>
            </a:r>
            <a:endParaRPr lang="ru-RU" dirty="0"/>
          </a:p>
        </p:txBody>
      </p:sp>
      <p:cxnSp>
        <p:nvCxnSpPr>
          <p:cNvPr id="6" name="Прямая со стрелкой 5"/>
          <p:cNvCxnSpPr>
            <a:stCxn id="4" idx="3"/>
          </p:cNvCxnSpPr>
          <p:nvPr/>
        </p:nvCxnSpPr>
        <p:spPr>
          <a:xfrm flipV="1">
            <a:off x="1639434" y="2766485"/>
            <a:ext cx="1104505" cy="839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Овал 6"/>
          <p:cNvSpPr/>
          <p:nvPr/>
        </p:nvSpPr>
        <p:spPr>
          <a:xfrm>
            <a:off x="2722993" y="2531696"/>
            <a:ext cx="477726" cy="442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 name="TextBox 7"/>
          <p:cNvSpPr txBox="1"/>
          <p:nvPr/>
        </p:nvSpPr>
        <p:spPr>
          <a:xfrm>
            <a:off x="2334492" y="2632662"/>
            <a:ext cx="1279999" cy="246221"/>
          </a:xfrm>
          <a:prstGeom prst="rect">
            <a:avLst/>
          </a:prstGeom>
          <a:noFill/>
        </p:spPr>
        <p:txBody>
          <a:bodyPr wrap="square" rtlCol="0">
            <a:spAutoFit/>
          </a:bodyPr>
          <a:lstStyle/>
          <a:p>
            <a:pPr algn="ctr"/>
            <a:r>
              <a:rPr lang="en-US" sz="1000" dirty="0" smtClean="0"/>
              <a:t>scaling</a:t>
            </a:r>
            <a:endParaRPr lang="ru-RU" sz="800" dirty="0"/>
          </a:p>
        </p:txBody>
      </p:sp>
      <p:cxnSp>
        <p:nvCxnSpPr>
          <p:cNvPr id="14" name="Прямая со стрелкой 13"/>
          <p:cNvCxnSpPr/>
          <p:nvPr/>
        </p:nvCxnSpPr>
        <p:spPr>
          <a:xfrm flipV="1">
            <a:off x="3206212" y="2766485"/>
            <a:ext cx="450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Овал 28"/>
          <p:cNvSpPr/>
          <p:nvPr/>
        </p:nvSpPr>
        <p:spPr>
          <a:xfrm>
            <a:off x="5163454" y="1194034"/>
            <a:ext cx="813485" cy="35017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0" name="TextBox 29"/>
          <p:cNvSpPr txBox="1"/>
          <p:nvPr/>
        </p:nvSpPr>
        <p:spPr>
          <a:xfrm>
            <a:off x="5150748" y="1230622"/>
            <a:ext cx="1185172" cy="276999"/>
          </a:xfrm>
          <a:prstGeom prst="rect">
            <a:avLst/>
          </a:prstGeom>
          <a:noFill/>
        </p:spPr>
        <p:txBody>
          <a:bodyPr wrap="square" rtlCol="0">
            <a:spAutoFit/>
          </a:bodyPr>
          <a:lstStyle/>
          <a:p>
            <a:r>
              <a:rPr lang="en-US" sz="1200" dirty="0" smtClean="0"/>
              <a:t>Loss: MSE</a:t>
            </a:r>
            <a:endParaRPr lang="ru-RU" sz="1200" dirty="0"/>
          </a:p>
        </p:txBody>
      </p:sp>
      <p:sp>
        <p:nvSpPr>
          <p:cNvPr id="33" name="TextBox 32"/>
          <p:cNvSpPr txBox="1"/>
          <p:nvPr/>
        </p:nvSpPr>
        <p:spPr>
          <a:xfrm>
            <a:off x="6519585" y="6320757"/>
            <a:ext cx="255826" cy="369332"/>
          </a:xfrm>
          <a:prstGeom prst="rect">
            <a:avLst/>
          </a:prstGeom>
          <a:noFill/>
        </p:spPr>
        <p:txBody>
          <a:bodyPr wrap="square" rtlCol="0">
            <a:spAutoFit/>
          </a:bodyPr>
          <a:lstStyle/>
          <a:p>
            <a:r>
              <a:rPr lang="en-US" dirty="0" smtClean="0"/>
              <a:t>A</a:t>
            </a:r>
            <a:endParaRPr lang="ru-RU" dirty="0"/>
          </a:p>
        </p:txBody>
      </p:sp>
      <p:sp>
        <p:nvSpPr>
          <p:cNvPr id="34" name="TextBox 33"/>
          <p:cNvSpPr txBox="1"/>
          <p:nvPr/>
        </p:nvSpPr>
        <p:spPr>
          <a:xfrm>
            <a:off x="2042424" y="3039832"/>
            <a:ext cx="1884921" cy="369332"/>
          </a:xfrm>
          <a:prstGeom prst="rect">
            <a:avLst/>
          </a:prstGeom>
          <a:noFill/>
        </p:spPr>
        <p:txBody>
          <a:bodyPr wrap="square" rtlCol="0">
            <a:spAutoFit/>
          </a:bodyPr>
          <a:lstStyle/>
          <a:p>
            <a:r>
              <a:rPr lang="en-US" dirty="0" smtClean="0"/>
              <a:t>Forward Diffusion</a:t>
            </a:r>
            <a:endParaRPr lang="ru-RU" dirty="0"/>
          </a:p>
        </p:txBody>
      </p:sp>
      <p:sp>
        <p:nvSpPr>
          <p:cNvPr id="35" name="Овал 34"/>
          <p:cNvSpPr/>
          <p:nvPr/>
        </p:nvSpPr>
        <p:spPr>
          <a:xfrm>
            <a:off x="7825759" y="2628361"/>
            <a:ext cx="195208" cy="20649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6" name="TextBox 35"/>
          <p:cNvSpPr txBox="1"/>
          <p:nvPr/>
        </p:nvSpPr>
        <p:spPr>
          <a:xfrm>
            <a:off x="7777532" y="2546315"/>
            <a:ext cx="373025" cy="369332"/>
          </a:xfrm>
          <a:prstGeom prst="rect">
            <a:avLst/>
          </a:prstGeom>
          <a:noFill/>
        </p:spPr>
        <p:txBody>
          <a:bodyPr wrap="square" rtlCol="0">
            <a:spAutoFit/>
          </a:bodyPr>
          <a:lstStyle/>
          <a:p>
            <a:r>
              <a:rPr lang="en-US" dirty="0" smtClean="0"/>
              <a:t>c</a:t>
            </a:r>
            <a:endParaRPr lang="ru-RU" dirty="0"/>
          </a:p>
        </p:txBody>
      </p:sp>
      <p:sp>
        <p:nvSpPr>
          <p:cNvPr id="38" name="Овал 37"/>
          <p:cNvSpPr/>
          <p:nvPr/>
        </p:nvSpPr>
        <p:spPr>
          <a:xfrm>
            <a:off x="2763158" y="4329840"/>
            <a:ext cx="195208" cy="19932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9" name="TextBox 38"/>
          <p:cNvSpPr txBox="1"/>
          <p:nvPr/>
        </p:nvSpPr>
        <p:spPr>
          <a:xfrm>
            <a:off x="2711524" y="4241590"/>
            <a:ext cx="298663" cy="369332"/>
          </a:xfrm>
          <a:prstGeom prst="rect">
            <a:avLst/>
          </a:prstGeom>
          <a:noFill/>
        </p:spPr>
        <p:txBody>
          <a:bodyPr wrap="square" rtlCol="0">
            <a:spAutoFit/>
          </a:bodyPr>
          <a:lstStyle/>
          <a:p>
            <a:r>
              <a:rPr lang="en-US" dirty="0" smtClean="0"/>
              <a:t>c</a:t>
            </a:r>
            <a:endParaRPr lang="ru-RU" dirty="0"/>
          </a:p>
        </p:txBody>
      </p:sp>
      <p:sp>
        <p:nvSpPr>
          <p:cNvPr id="41" name="Прямоугольник 40"/>
          <p:cNvSpPr/>
          <p:nvPr/>
        </p:nvSpPr>
        <p:spPr>
          <a:xfrm>
            <a:off x="200684" y="5258688"/>
            <a:ext cx="1457705" cy="5894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2" name="TextBox 41"/>
          <p:cNvSpPr txBox="1"/>
          <p:nvPr/>
        </p:nvSpPr>
        <p:spPr>
          <a:xfrm>
            <a:off x="378037" y="5258688"/>
            <a:ext cx="1102999" cy="646331"/>
          </a:xfrm>
          <a:prstGeom prst="rect">
            <a:avLst/>
          </a:prstGeom>
          <a:noFill/>
        </p:spPr>
        <p:txBody>
          <a:bodyPr wrap="square" rtlCol="0">
            <a:spAutoFit/>
          </a:bodyPr>
          <a:lstStyle/>
          <a:p>
            <a:pPr algn="ctr"/>
            <a:r>
              <a:rPr lang="en-US" dirty="0" smtClean="0"/>
              <a:t>Balanced dataset</a:t>
            </a:r>
            <a:endParaRPr lang="ru-RU" dirty="0"/>
          </a:p>
        </p:txBody>
      </p:sp>
      <p:sp>
        <p:nvSpPr>
          <p:cNvPr id="44" name="Скругленный прямоугольник 43"/>
          <p:cNvSpPr/>
          <p:nvPr/>
        </p:nvSpPr>
        <p:spPr>
          <a:xfrm>
            <a:off x="2335904" y="5265225"/>
            <a:ext cx="1270431" cy="568082"/>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5" name="TextBox 44"/>
          <p:cNvSpPr txBox="1"/>
          <p:nvPr/>
        </p:nvSpPr>
        <p:spPr>
          <a:xfrm>
            <a:off x="2466447" y="5215424"/>
            <a:ext cx="1150676" cy="646331"/>
          </a:xfrm>
          <a:prstGeom prst="rect">
            <a:avLst/>
          </a:prstGeom>
          <a:noFill/>
        </p:spPr>
        <p:txBody>
          <a:bodyPr wrap="square" rtlCol="0">
            <a:spAutoFit/>
          </a:bodyPr>
          <a:lstStyle/>
          <a:p>
            <a:r>
              <a:rPr lang="en-US" dirty="0" err="1" smtClean="0"/>
              <a:t>XGBoost</a:t>
            </a:r>
            <a:r>
              <a:rPr lang="en-US" dirty="0" smtClean="0"/>
              <a:t> Classifier</a:t>
            </a:r>
            <a:endParaRPr lang="ru-RU" dirty="0"/>
          </a:p>
        </p:txBody>
      </p:sp>
      <p:sp>
        <p:nvSpPr>
          <p:cNvPr id="47" name="Овал 46"/>
          <p:cNvSpPr/>
          <p:nvPr/>
        </p:nvSpPr>
        <p:spPr>
          <a:xfrm>
            <a:off x="4287502" y="5344579"/>
            <a:ext cx="1134129" cy="4208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8" name="TextBox 47"/>
          <p:cNvSpPr txBox="1"/>
          <p:nvPr/>
        </p:nvSpPr>
        <p:spPr>
          <a:xfrm>
            <a:off x="4260139" y="5362635"/>
            <a:ext cx="1226448" cy="369332"/>
          </a:xfrm>
          <a:prstGeom prst="rect">
            <a:avLst/>
          </a:prstGeom>
          <a:noFill/>
        </p:spPr>
        <p:txBody>
          <a:bodyPr wrap="square" rtlCol="0">
            <a:spAutoFit/>
          </a:bodyPr>
          <a:lstStyle/>
          <a:p>
            <a:r>
              <a:rPr lang="en-US" dirty="0" smtClean="0"/>
              <a:t>predictions</a:t>
            </a:r>
            <a:endParaRPr lang="ru-RU" dirty="0"/>
          </a:p>
        </p:txBody>
      </p:sp>
      <p:sp>
        <p:nvSpPr>
          <p:cNvPr id="53" name="Овал 52"/>
          <p:cNvSpPr/>
          <p:nvPr/>
        </p:nvSpPr>
        <p:spPr>
          <a:xfrm>
            <a:off x="3656459" y="2535381"/>
            <a:ext cx="897069" cy="4385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4" name="TextBox 53"/>
          <p:cNvSpPr txBox="1"/>
          <p:nvPr/>
        </p:nvSpPr>
        <p:spPr>
          <a:xfrm>
            <a:off x="3665661" y="2627985"/>
            <a:ext cx="1281938" cy="276999"/>
          </a:xfrm>
          <a:prstGeom prst="rect">
            <a:avLst/>
          </a:prstGeom>
          <a:noFill/>
        </p:spPr>
        <p:txBody>
          <a:bodyPr wrap="square" rtlCol="0">
            <a:spAutoFit/>
          </a:bodyPr>
          <a:lstStyle/>
          <a:p>
            <a:r>
              <a:rPr lang="en-US" sz="1200" dirty="0" smtClean="0"/>
              <a:t>t* </a:t>
            </a:r>
            <a:r>
              <a:rPr lang="en-US" sz="900" dirty="0" smtClean="0"/>
              <a:t>~</a:t>
            </a:r>
            <a:r>
              <a:rPr lang="en-US" sz="1200" dirty="0" smtClean="0"/>
              <a:t> U(0, T)</a:t>
            </a:r>
            <a:endParaRPr lang="ru-RU" sz="1200" dirty="0"/>
          </a:p>
        </p:txBody>
      </p:sp>
      <p:cxnSp>
        <p:nvCxnSpPr>
          <p:cNvPr id="55" name="Прямая со стрелкой 54"/>
          <p:cNvCxnSpPr/>
          <p:nvPr/>
        </p:nvCxnSpPr>
        <p:spPr>
          <a:xfrm flipV="1">
            <a:off x="4562730" y="2752805"/>
            <a:ext cx="450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6" name="Овал 55"/>
          <p:cNvSpPr/>
          <p:nvPr/>
        </p:nvSpPr>
        <p:spPr>
          <a:xfrm>
            <a:off x="5009268" y="2528137"/>
            <a:ext cx="897069" cy="438533"/>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58" name="TextBox 57"/>
          <p:cNvSpPr txBox="1"/>
          <p:nvPr/>
        </p:nvSpPr>
        <p:spPr>
          <a:xfrm>
            <a:off x="5031982" y="2616147"/>
            <a:ext cx="1320800" cy="276999"/>
          </a:xfrm>
          <a:prstGeom prst="rect">
            <a:avLst/>
          </a:prstGeom>
          <a:noFill/>
        </p:spPr>
        <p:txBody>
          <a:bodyPr wrap="square" rtlCol="0">
            <a:spAutoFit/>
          </a:bodyPr>
          <a:lstStyle/>
          <a:p>
            <a:r>
              <a:rPr lang="el-GR" sz="1200" dirty="0" smtClean="0"/>
              <a:t>ε</a:t>
            </a:r>
            <a:r>
              <a:rPr lang="en-US" sz="1200" dirty="0" smtClean="0"/>
              <a:t>*</a:t>
            </a:r>
            <a:r>
              <a:rPr lang="en-US" sz="900" dirty="0" smtClean="0"/>
              <a:t> ~ </a:t>
            </a:r>
            <a:r>
              <a:rPr lang="en-US" sz="1200" dirty="0" smtClean="0"/>
              <a:t>N(0, 1)</a:t>
            </a:r>
            <a:endParaRPr lang="ru-RU" sz="1200" dirty="0"/>
          </a:p>
        </p:txBody>
      </p:sp>
      <p:cxnSp>
        <p:nvCxnSpPr>
          <p:cNvPr id="59" name="Прямая со стрелкой 58"/>
          <p:cNvCxnSpPr/>
          <p:nvPr/>
        </p:nvCxnSpPr>
        <p:spPr>
          <a:xfrm flipV="1">
            <a:off x="5919459" y="2745316"/>
            <a:ext cx="450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Прямоугольник 59"/>
          <p:cNvSpPr/>
          <p:nvPr/>
        </p:nvSpPr>
        <p:spPr>
          <a:xfrm>
            <a:off x="6360564" y="2528136"/>
            <a:ext cx="1011866" cy="43853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61" name="TextBox 60"/>
          <p:cNvSpPr txBox="1"/>
          <p:nvPr/>
        </p:nvSpPr>
        <p:spPr>
          <a:xfrm>
            <a:off x="6333583" y="2568139"/>
            <a:ext cx="1038847" cy="369332"/>
          </a:xfrm>
          <a:prstGeom prst="rect">
            <a:avLst/>
          </a:prstGeom>
          <a:noFill/>
        </p:spPr>
        <p:txBody>
          <a:bodyPr wrap="square" rtlCol="0">
            <a:spAutoFit/>
          </a:bodyPr>
          <a:lstStyle/>
          <a:p>
            <a:r>
              <a:rPr lang="en-US" dirty="0" err="1" smtClean="0"/>
              <a:t>X_noised</a:t>
            </a:r>
            <a:endParaRPr lang="ru-RU" dirty="0"/>
          </a:p>
        </p:txBody>
      </p:sp>
      <p:cxnSp>
        <p:nvCxnSpPr>
          <p:cNvPr id="62" name="Прямая со стрелкой 61"/>
          <p:cNvCxnSpPr/>
          <p:nvPr/>
        </p:nvCxnSpPr>
        <p:spPr>
          <a:xfrm flipV="1">
            <a:off x="7375512" y="2733757"/>
            <a:ext cx="450247" cy="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Соединительная линия уступом 64"/>
          <p:cNvCxnSpPr>
            <a:endCxn id="35" idx="4"/>
          </p:cNvCxnSpPr>
          <p:nvPr/>
        </p:nvCxnSpPr>
        <p:spPr>
          <a:xfrm flipV="1">
            <a:off x="886688" y="2834855"/>
            <a:ext cx="7036675" cy="787031"/>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Прямоугольник 79"/>
          <p:cNvSpPr/>
          <p:nvPr/>
        </p:nvSpPr>
        <p:spPr>
          <a:xfrm>
            <a:off x="8380530" y="1668700"/>
            <a:ext cx="882888"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1" name="TextBox 80"/>
          <p:cNvSpPr txBox="1"/>
          <p:nvPr/>
        </p:nvSpPr>
        <p:spPr>
          <a:xfrm>
            <a:off x="8470474" y="1678089"/>
            <a:ext cx="709816" cy="461665"/>
          </a:xfrm>
          <a:prstGeom prst="rect">
            <a:avLst/>
          </a:prstGeom>
          <a:noFill/>
        </p:spPr>
        <p:txBody>
          <a:bodyPr wrap="square" rtlCol="0">
            <a:spAutoFit/>
          </a:bodyPr>
          <a:lstStyle/>
          <a:p>
            <a:pPr algn="ctr"/>
            <a:r>
              <a:rPr lang="en-US" sz="1200" dirty="0" smtClean="0"/>
              <a:t>Input</a:t>
            </a:r>
          </a:p>
          <a:p>
            <a:pPr algn="ctr"/>
            <a:r>
              <a:rPr lang="en-US" sz="1200" dirty="0" smtClean="0"/>
              <a:t>(B, D+1)</a:t>
            </a:r>
            <a:endParaRPr lang="ru-RU" sz="1200" dirty="0"/>
          </a:p>
        </p:txBody>
      </p:sp>
      <p:cxnSp>
        <p:nvCxnSpPr>
          <p:cNvPr id="83" name="Соединительная линия уступом 82"/>
          <p:cNvCxnSpPr>
            <a:stCxn id="35" idx="6"/>
            <a:endCxn id="81" idx="2"/>
          </p:cNvCxnSpPr>
          <p:nvPr/>
        </p:nvCxnSpPr>
        <p:spPr>
          <a:xfrm flipV="1">
            <a:off x="8020967" y="2139754"/>
            <a:ext cx="804415" cy="59185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5" name="Прямая со стрелкой 84"/>
          <p:cNvCxnSpPr>
            <a:stCxn id="80" idx="1"/>
          </p:cNvCxnSpPr>
          <p:nvPr/>
        </p:nvCxnSpPr>
        <p:spPr>
          <a:xfrm flipH="1">
            <a:off x="8008057" y="1904227"/>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8" name="Прямоугольник 87"/>
          <p:cNvSpPr/>
          <p:nvPr/>
        </p:nvSpPr>
        <p:spPr>
          <a:xfrm>
            <a:off x="7135720" y="1664765"/>
            <a:ext cx="882888"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89" name="TextBox 88"/>
          <p:cNvSpPr txBox="1"/>
          <p:nvPr/>
        </p:nvSpPr>
        <p:spPr>
          <a:xfrm>
            <a:off x="7135041" y="1664765"/>
            <a:ext cx="873695" cy="461665"/>
          </a:xfrm>
          <a:prstGeom prst="rect">
            <a:avLst/>
          </a:prstGeom>
          <a:noFill/>
        </p:spPr>
        <p:txBody>
          <a:bodyPr wrap="square" rtlCol="0">
            <a:spAutoFit/>
          </a:bodyPr>
          <a:lstStyle/>
          <a:p>
            <a:pPr algn="ctr"/>
            <a:r>
              <a:rPr lang="en-US" sz="1200" dirty="0" smtClean="0"/>
              <a:t>Linear</a:t>
            </a:r>
          </a:p>
          <a:p>
            <a:pPr algn="ctr"/>
            <a:r>
              <a:rPr lang="en-US" sz="1200" dirty="0" smtClean="0"/>
              <a:t>(D+1, 256)</a:t>
            </a:r>
            <a:endParaRPr lang="ru-RU" sz="1200" dirty="0"/>
          </a:p>
        </p:txBody>
      </p:sp>
      <p:sp>
        <p:nvSpPr>
          <p:cNvPr id="90" name="Прямоугольник 89"/>
          <p:cNvSpPr/>
          <p:nvPr/>
        </p:nvSpPr>
        <p:spPr>
          <a:xfrm>
            <a:off x="6397169" y="1664041"/>
            <a:ext cx="370816"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1" name="TextBox 90"/>
          <p:cNvSpPr txBox="1"/>
          <p:nvPr/>
        </p:nvSpPr>
        <p:spPr>
          <a:xfrm>
            <a:off x="6220316" y="1757096"/>
            <a:ext cx="709816" cy="276999"/>
          </a:xfrm>
          <a:prstGeom prst="rect">
            <a:avLst/>
          </a:prstGeom>
          <a:noFill/>
        </p:spPr>
        <p:txBody>
          <a:bodyPr wrap="square" rtlCol="0">
            <a:spAutoFit/>
          </a:bodyPr>
          <a:lstStyle/>
          <a:p>
            <a:pPr algn="ctr"/>
            <a:r>
              <a:rPr lang="en-US" sz="1200" dirty="0" err="1" smtClean="0"/>
              <a:t>SiLU</a:t>
            </a:r>
            <a:endParaRPr lang="ru-RU" sz="1200" dirty="0"/>
          </a:p>
        </p:txBody>
      </p:sp>
      <p:cxnSp>
        <p:nvCxnSpPr>
          <p:cNvPr id="92" name="Прямая со стрелкой 91"/>
          <p:cNvCxnSpPr/>
          <p:nvPr/>
        </p:nvCxnSpPr>
        <p:spPr>
          <a:xfrm flipH="1">
            <a:off x="6759091" y="1895596"/>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Прямая со стрелкой 94"/>
          <p:cNvCxnSpPr/>
          <p:nvPr/>
        </p:nvCxnSpPr>
        <p:spPr>
          <a:xfrm flipH="1">
            <a:off x="6024696" y="1904116"/>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Прямоугольник 95"/>
          <p:cNvSpPr/>
          <p:nvPr/>
        </p:nvSpPr>
        <p:spPr>
          <a:xfrm>
            <a:off x="5137982" y="1679278"/>
            <a:ext cx="882888"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7" name="TextBox 96"/>
          <p:cNvSpPr txBox="1"/>
          <p:nvPr/>
        </p:nvSpPr>
        <p:spPr>
          <a:xfrm>
            <a:off x="5137303" y="1679278"/>
            <a:ext cx="873695" cy="461665"/>
          </a:xfrm>
          <a:prstGeom prst="rect">
            <a:avLst/>
          </a:prstGeom>
          <a:noFill/>
        </p:spPr>
        <p:txBody>
          <a:bodyPr wrap="square" rtlCol="0">
            <a:spAutoFit/>
          </a:bodyPr>
          <a:lstStyle/>
          <a:p>
            <a:pPr algn="ctr"/>
            <a:r>
              <a:rPr lang="en-US" sz="1200" dirty="0" smtClean="0"/>
              <a:t>Linear</a:t>
            </a:r>
          </a:p>
          <a:p>
            <a:pPr algn="ctr"/>
            <a:r>
              <a:rPr lang="en-US" sz="1200" dirty="0" smtClean="0"/>
              <a:t>(256, 256)</a:t>
            </a:r>
            <a:endParaRPr lang="ru-RU" sz="1200" dirty="0"/>
          </a:p>
        </p:txBody>
      </p:sp>
      <p:sp>
        <p:nvSpPr>
          <p:cNvPr id="98" name="Прямоугольник 97"/>
          <p:cNvSpPr/>
          <p:nvPr/>
        </p:nvSpPr>
        <p:spPr>
          <a:xfrm>
            <a:off x="4399431" y="1678554"/>
            <a:ext cx="370816"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9" name="TextBox 98"/>
          <p:cNvSpPr txBox="1"/>
          <p:nvPr/>
        </p:nvSpPr>
        <p:spPr>
          <a:xfrm>
            <a:off x="4222578" y="1771609"/>
            <a:ext cx="709816" cy="276999"/>
          </a:xfrm>
          <a:prstGeom prst="rect">
            <a:avLst/>
          </a:prstGeom>
          <a:noFill/>
        </p:spPr>
        <p:txBody>
          <a:bodyPr wrap="square" rtlCol="0">
            <a:spAutoFit/>
          </a:bodyPr>
          <a:lstStyle/>
          <a:p>
            <a:pPr algn="ctr"/>
            <a:r>
              <a:rPr lang="en-US" sz="1200" dirty="0" err="1" smtClean="0"/>
              <a:t>SiLU</a:t>
            </a:r>
            <a:endParaRPr lang="ru-RU" sz="1200" dirty="0"/>
          </a:p>
        </p:txBody>
      </p:sp>
      <p:cxnSp>
        <p:nvCxnSpPr>
          <p:cNvPr id="100" name="Прямая со стрелкой 99"/>
          <p:cNvCxnSpPr/>
          <p:nvPr/>
        </p:nvCxnSpPr>
        <p:spPr>
          <a:xfrm flipH="1">
            <a:off x="4761353" y="1910109"/>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Прямоугольник 100"/>
          <p:cNvSpPr/>
          <p:nvPr/>
        </p:nvSpPr>
        <p:spPr>
          <a:xfrm>
            <a:off x="3148759" y="1674008"/>
            <a:ext cx="882888"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02" name="TextBox 101"/>
          <p:cNvSpPr txBox="1"/>
          <p:nvPr/>
        </p:nvSpPr>
        <p:spPr>
          <a:xfrm>
            <a:off x="3118079" y="1673394"/>
            <a:ext cx="873695" cy="461665"/>
          </a:xfrm>
          <a:prstGeom prst="rect">
            <a:avLst/>
          </a:prstGeom>
          <a:noFill/>
        </p:spPr>
        <p:txBody>
          <a:bodyPr wrap="square" rtlCol="0">
            <a:spAutoFit/>
          </a:bodyPr>
          <a:lstStyle/>
          <a:p>
            <a:pPr algn="ctr"/>
            <a:r>
              <a:rPr lang="en-US" sz="1200" dirty="0" smtClean="0"/>
              <a:t>Linear</a:t>
            </a:r>
          </a:p>
          <a:p>
            <a:pPr algn="ctr"/>
            <a:r>
              <a:rPr lang="en-US" sz="1200" dirty="0" smtClean="0"/>
              <a:t>(256, 256)</a:t>
            </a:r>
            <a:endParaRPr lang="ru-RU" sz="1200" dirty="0"/>
          </a:p>
        </p:txBody>
      </p:sp>
      <p:sp>
        <p:nvSpPr>
          <p:cNvPr id="103" name="Прямоугольник 102"/>
          <p:cNvSpPr/>
          <p:nvPr/>
        </p:nvSpPr>
        <p:spPr>
          <a:xfrm>
            <a:off x="2042424" y="1673284"/>
            <a:ext cx="738600" cy="47105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04" name="Прямая со стрелкой 103"/>
          <p:cNvCxnSpPr/>
          <p:nvPr/>
        </p:nvCxnSpPr>
        <p:spPr>
          <a:xfrm flipH="1">
            <a:off x="2772130" y="1904839"/>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Прямая со стрелкой 104"/>
          <p:cNvCxnSpPr/>
          <p:nvPr/>
        </p:nvCxnSpPr>
        <p:spPr>
          <a:xfrm flipH="1">
            <a:off x="4026958" y="1906603"/>
            <a:ext cx="37247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TextBox 112"/>
          <p:cNvSpPr txBox="1"/>
          <p:nvPr/>
        </p:nvSpPr>
        <p:spPr>
          <a:xfrm>
            <a:off x="2033909" y="1673284"/>
            <a:ext cx="798101" cy="461665"/>
          </a:xfrm>
          <a:prstGeom prst="rect">
            <a:avLst/>
          </a:prstGeom>
          <a:noFill/>
        </p:spPr>
        <p:txBody>
          <a:bodyPr wrap="square" rtlCol="0">
            <a:spAutoFit/>
          </a:bodyPr>
          <a:lstStyle/>
          <a:p>
            <a:pPr algn="ctr"/>
            <a:r>
              <a:rPr lang="en-US" sz="1200" dirty="0" smtClean="0"/>
              <a:t>Predicted </a:t>
            </a:r>
          </a:p>
          <a:p>
            <a:pPr algn="ctr"/>
            <a:r>
              <a:rPr lang="en-US" sz="1200" dirty="0" smtClean="0"/>
              <a:t>noise </a:t>
            </a:r>
            <a:r>
              <a:rPr lang="el-GR" sz="1200" dirty="0"/>
              <a:t>ε</a:t>
            </a:r>
            <a:endParaRPr lang="ru-RU" sz="1200" dirty="0"/>
          </a:p>
        </p:txBody>
      </p:sp>
      <p:cxnSp>
        <p:nvCxnSpPr>
          <p:cNvPr id="116" name="Соединительная линия уступом 115"/>
          <p:cNvCxnSpPr>
            <a:stCxn id="113" idx="0"/>
            <a:endCxn id="30" idx="1"/>
          </p:cNvCxnSpPr>
          <p:nvPr/>
        </p:nvCxnSpPr>
        <p:spPr>
          <a:xfrm rot="5400000" flipH="1" flipV="1">
            <a:off x="3639773" y="162309"/>
            <a:ext cx="304162" cy="2717788"/>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Соединительная линия уступом 117"/>
          <p:cNvCxnSpPr>
            <a:endCxn id="81" idx="0"/>
          </p:cNvCxnSpPr>
          <p:nvPr/>
        </p:nvCxnSpPr>
        <p:spPr>
          <a:xfrm>
            <a:off x="5976939" y="1369122"/>
            <a:ext cx="2848443" cy="308967"/>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9" name="Овал 118"/>
          <p:cNvSpPr/>
          <p:nvPr/>
        </p:nvSpPr>
        <p:spPr>
          <a:xfrm>
            <a:off x="6712881" y="1160499"/>
            <a:ext cx="180497" cy="179009"/>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0" name="TextBox 119"/>
          <p:cNvSpPr txBox="1"/>
          <p:nvPr/>
        </p:nvSpPr>
        <p:spPr>
          <a:xfrm>
            <a:off x="6671822" y="1111503"/>
            <a:ext cx="154118" cy="276999"/>
          </a:xfrm>
          <a:prstGeom prst="rect">
            <a:avLst/>
          </a:prstGeom>
          <a:noFill/>
        </p:spPr>
        <p:txBody>
          <a:bodyPr wrap="square" rtlCol="0">
            <a:spAutoFit/>
          </a:bodyPr>
          <a:lstStyle/>
          <a:p>
            <a:r>
              <a:rPr lang="en-US" sz="1200" dirty="0" smtClean="0"/>
              <a:t>A</a:t>
            </a:r>
            <a:endParaRPr lang="ru-RU" sz="1200" dirty="0"/>
          </a:p>
        </p:txBody>
      </p:sp>
      <p:cxnSp>
        <p:nvCxnSpPr>
          <p:cNvPr id="122" name="Прямая соединительная линия 121"/>
          <p:cNvCxnSpPr/>
          <p:nvPr/>
        </p:nvCxnSpPr>
        <p:spPr>
          <a:xfrm flipH="1" flipV="1">
            <a:off x="2430882" y="923275"/>
            <a:ext cx="2080" cy="44585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 name="Соединительная линия уступом 123"/>
          <p:cNvCxnSpPr>
            <a:endCxn id="126" idx="0"/>
          </p:cNvCxnSpPr>
          <p:nvPr/>
        </p:nvCxnSpPr>
        <p:spPr>
          <a:xfrm>
            <a:off x="2430882" y="924221"/>
            <a:ext cx="8351854" cy="297364"/>
          </a:xfrm>
          <a:prstGeom prst="bentConnector2">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5" name="Прямоугольник 124"/>
          <p:cNvSpPr/>
          <p:nvPr/>
        </p:nvSpPr>
        <p:spPr>
          <a:xfrm>
            <a:off x="10042989" y="1211356"/>
            <a:ext cx="1446123" cy="368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26" name="TextBox 125"/>
          <p:cNvSpPr txBox="1"/>
          <p:nvPr/>
        </p:nvSpPr>
        <p:spPr>
          <a:xfrm>
            <a:off x="10089729" y="1221585"/>
            <a:ext cx="1386014" cy="369332"/>
          </a:xfrm>
          <a:prstGeom prst="rect">
            <a:avLst/>
          </a:prstGeom>
          <a:noFill/>
        </p:spPr>
        <p:txBody>
          <a:bodyPr wrap="square" rtlCol="0">
            <a:spAutoFit/>
          </a:bodyPr>
          <a:lstStyle/>
          <a:p>
            <a:r>
              <a:rPr lang="en-US" dirty="0" err="1" smtClean="0"/>
              <a:t>Noised_data</a:t>
            </a:r>
            <a:endParaRPr lang="ru-RU" dirty="0"/>
          </a:p>
        </p:txBody>
      </p:sp>
      <p:sp>
        <p:nvSpPr>
          <p:cNvPr id="133" name="TextBox 132"/>
          <p:cNvSpPr txBox="1"/>
          <p:nvPr/>
        </p:nvSpPr>
        <p:spPr>
          <a:xfrm>
            <a:off x="1983428" y="2121282"/>
            <a:ext cx="2165961" cy="369332"/>
          </a:xfrm>
          <a:prstGeom prst="rect">
            <a:avLst/>
          </a:prstGeom>
          <a:noFill/>
        </p:spPr>
        <p:txBody>
          <a:bodyPr wrap="square" rtlCol="0">
            <a:spAutoFit/>
          </a:bodyPr>
          <a:lstStyle/>
          <a:p>
            <a:r>
              <a:rPr lang="en-US" dirty="0" smtClean="0"/>
              <a:t>Model architecture</a:t>
            </a:r>
            <a:endParaRPr lang="ru-RU" dirty="0"/>
          </a:p>
        </p:txBody>
      </p:sp>
      <p:sp>
        <p:nvSpPr>
          <p:cNvPr id="137" name="Овал 136"/>
          <p:cNvSpPr/>
          <p:nvPr/>
        </p:nvSpPr>
        <p:spPr>
          <a:xfrm>
            <a:off x="10061489" y="2034095"/>
            <a:ext cx="1446123" cy="368757"/>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38" name="TextBox 137"/>
          <p:cNvSpPr txBox="1"/>
          <p:nvPr/>
        </p:nvSpPr>
        <p:spPr>
          <a:xfrm>
            <a:off x="10001076" y="2079975"/>
            <a:ext cx="1563321" cy="276999"/>
          </a:xfrm>
          <a:prstGeom prst="rect">
            <a:avLst/>
          </a:prstGeom>
          <a:noFill/>
        </p:spPr>
        <p:txBody>
          <a:bodyPr wrap="square" rtlCol="0">
            <a:spAutoFit/>
          </a:bodyPr>
          <a:lstStyle/>
          <a:p>
            <a:r>
              <a:rPr lang="en-US" sz="1200" dirty="0" smtClean="0"/>
              <a:t>Cosine Beta Schedule</a:t>
            </a:r>
            <a:endParaRPr lang="ru-RU" sz="1200" dirty="0"/>
          </a:p>
        </p:txBody>
      </p:sp>
      <p:cxnSp>
        <p:nvCxnSpPr>
          <p:cNvPr id="144" name="Прямая со стрелкой 143"/>
          <p:cNvCxnSpPr>
            <a:stCxn id="126" idx="2"/>
            <a:endCxn id="137" idx="0"/>
          </p:cNvCxnSpPr>
          <p:nvPr/>
        </p:nvCxnSpPr>
        <p:spPr>
          <a:xfrm>
            <a:off x="10782736" y="1590917"/>
            <a:ext cx="1815" cy="4431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7" name="Прямая со стрелкой 146"/>
          <p:cNvCxnSpPr/>
          <p:nvPr/>
        </p:nvCxnSpPr>
        <p:spPr>
          <a:xfrm>
            <a:off x="10782736" y="2407068"/>
            <a:ext cx="1815" cy="44317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8" name="Прямоугольник 147"/>
          <p:cNvSpPr/>
          <p:nvPr/>
        </p:nvSpPr>
        <p:spPr>
          <a:xfrm>
            <a:off x="10056358" y="2868654"/>
            <a:ext cx="1446123" cy="3682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49" name="TextBox 148"/>
          <p:cNvSpPr txBox="1"/>
          <p:nvPr/>
        </p:nvSpPr>
        <p:spPr>
          <a:xfrm>
            <a:off x="10178383" y="2846030"/>
            <a:ext cx="1386014" cy="369332"/>
          </a:xfrm>
          <a:prstGeom prst="rect">
            <a:avLst/>
          </a:prstGeom>
          <a:noFill/>
        </p:spPr>
        <p:txBody>
          <a:bodyPr wrap="square" rtlCol="0">
            <a:spAutoFit/>
          </a:bodyPr>
          <a:lstStyle/>
          <a:p>
            <a:r>
              <a:rPr lang="en-US" dirty="0" err="1" smtClean="0"/>
              <a:t>X_t</a:t>
            </a:r>
            <a:r>
              <a:rPr lang="en-US" dirty="0" smtClean="0"/>
              <a:t> </a:t>
            </a:r>
            <a:r>
              <a:rPr lang="en-US" sz="1200" dirty="0" smtClean="0"/>
              <a:t>~</a:t>
            </a:r>
            <a:r>
              <a:rPr lang="en-US" dirty="0" smtClean="0"/>
              <a:t> N</a:t>
            </a:r>
            <a:r>
              <a:rPr lang="en-US" sz="1400" dirty="0" smtClean="0"/>
              <a:t>(0, 1)</a:t>
            </a:r>
            <a:endParaRPr lang="ru-RU" dirty="0"/>
          </a:p>
        </p:txBody>
      </p:sp>
      <p:sp>
        <p:nvSpPr>
          <p:cNvPr id="150" name="Прямоугольник 149"/>
          <p:cNvSpPr/>
          <p:nvPr/>
        </p:nvSpPr>
        <p:spPr>
          <a:xfrm>
            <a:off x="10376336" y="4246055"/>
            <a:ext cx="812800" cy="406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51" name="TextBox 150"/>
          <p:cNvSpPr txBox="1"/>
          <p:nvPr/>
        </p:nvSpPr>
        <p:spPr>
          <a:xfrm>
            <a:off x="10530037" y="4247451"/>
            <a:ext cx="498763" cy="369332"/>
          </a:xfrm>
          <a:prstGeom prst="rect">
            <a:avLst/>
          </a:prstGeom>
          <a:noFill/>
        </p:spPr>
        <p:txBody>
          <a:bodyPr wrap="square" rtlCol="0">
            <a:spAutoFit/>
          </a:bodyPr>
          <a:lstStyle/>
          <a:p>
            <a:r>
              <a:rPr lang="en-US" dirty="0" err="1" smtClean="0"/>
              <a:t>X_t</a:t>
            </a:r>
            <a:endParaRPr lang="ru-RU" dirty="0"/>
          </a:p>
        </p:txBody>
      </p:sp>
      <p:cxnSp>
        <p:nvCxnSpPr>
          <p:cNvPr id="152" name="Прямая со стрелкой 151"/>
          <p:cNvCxnSpPr>
            <a:stCxn id="148" idx="2"/>
            <a:endCxn id="150" idx="0"/>
          </p:cNvCxnSpPr>
          <p:nvPr/>
        </p:nvCxnSpPr>
        <p:spPr>
          <a:xfrm>
            <a:off x="10779420" y="3236916"/>
            <a:ext cx="3316" cy="10091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9" name="Прямая со стрелкой 158"/>
          <p:cNvCxnSpPr>
            <a:stCxn id="150" idx="1"/>
          </p:cNvCxnSpPr>
          <p:nvPr/>
        </p:nvCxnSpPr>
        <p:spPr>
          <a:xfrm flipH="1" flipV="1">
            <a:off x="9862650" y="4447984"/>
            <a:ext cx="513686" cy="127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1" name="Овал 160"/>
          <p:cNvSpPr/>
          <p:nvPr/>
        </p:nvSpPr>
        <p:spPr>
          <a:xfrm>
            <a:off x="8985046" y="4238821"/>
            <a:ext cx="877604" cy="386595"/>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62" name="TextBox 161"/>
          <p:cNvSpPr txBox="1"/>
          <p:nvPr/>
        </p:nvSpPr>
        <p:spPr>
          <a:xfrm>
            <a:off x="8985046" y="4293618"/>
            <a:ext cx="931626" cy="276999"/>
          </a:xfrm>
          <a:prstGeom prst="rect">
            <a:avLst/>
          </a:prstGeom>
          <a:noFill/>
        </p:spPr>
        <p:txBody>
          <a:bodyPr wrap="square" rtlCol="0">
            <a:spAutoFit/>
          </a:bodyPr>
          <a:lstStyle/>
          <a:p>
            <a:r>
              <a:rPr lang="el-GR" sz="1200" dirty="0" smtClean="0"/>
              <a:t>ε</a:t>
            </a:r>
            <a:r>
              <a:rPr lang="en-US" sz="1200" dirty="0" smtClean="0"/>
              <a:t> prediction</a:t>
            </a:r>
            <a:endParaRPr lang="ru-RU" sz="1200" dirty="0"/>
          </a:p>
        </p:txBody>
      </p:sp>
      <p:cxnSp>
        <p:nvCxnSpPr>
          <p:cNvPr id="172" name="Соединительная линия уступом 171"/>
          <p:cNvCxnSpPr>
            <a:stCxn id="161" idx="0"/>
          </p:cNvCxnSpPr>
          <p:nvPr/>
        </p:nvCxnSpPr>
        <p:spPr>
          <a:xfrm rot="16200000" flipV="1">
            <a:off x="8773215" y="3588188"/>
            <a:ext cx="257948" cy="10433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4" name="Соединительная линия уступом 173"/>
          <p:cNvCxnSpPr>
            <a:stCxn id="161" idx="4"/>
          </p:cNvCxnSpPr>
          <p:nvPr/>
        </p:nvCxnSpPr>
        <p:spPr>
          <a:xfrm rot="5400000">
            <a:off x="8773214" y="4232732"/>
            <a:ext cx="257950" cy="1043318"/>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6" name="Прямая со стрелкой 175"/>
          <p:cNvCxnSpPr>
            <a:stCxn id="162" idx="1"/>
          </p:cNvCxnSpPr>
          <p:nvPr/>
        </p:nvCxnSpPr>
        <p:spPr>
          <a:xfrm flipH="1" flipV="1">
            <a:off x="8380530" y="4432117"/>
            <a:ext cx="60451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8" name="TextBox 177"/>
          <p:cNvSpPr txBox="1"/>
          <p:nvPr/>
        </p:nvSpPr>
        <p:spPr>
          <a:xfrm>
            <a:off x="9631847" y="5157986"/>
            <a:ext cx="2295142" cy="369332"/>
          </a:xfrm>
          <a:prstGeom prst="rect">
            <a:avLst/>
          </a:prstGeom>
          <a:noFill/>
        </p:spPr>
        <p:txBody>
          <a:bodyPr wrap="square" rtlCol="0">
            <a:spAutoFit/>
          </a:bodyPr>
          <a:lstStyle/>
          <a:p>
            <a:r>
              <a:rPr lang="en-US" dirty="0" smtClean="0"/>
              <a:t>Backward Diffusion</a:t>
            </a:r>
            <a:endParaRPr lang="ru-RU" dirty="0"/>
          </a:p>
        </p:txBody>
      </p:sp>
      <p:sp>
        <p:nvSpPr>
          <p:cNvPr id="179" name="Овал 178"/>
          <p:cNvSpPr/>
          <p:nvPr/>
        </p:nvSpPr>
        <p:spPr>
          <a:xfrm>
            <a:off x="7904836" y="3862511"/>
            <a:ext cx="459259" cy="2393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0" name="TextBox 179"/>
          <p:cNvSpPr txBox="1"/>
          <p:nvPr/>
        </p:nvSpPr>
        <p:spPr>
          <a:xfrm>
            <a:off x="7975958" y="3776842"/>
            <a:ext cx="404572" cy="369332"/>
          </a:xfrm>
          <a:prstGeom prst="rect">
            <a:avLst/>
          </a:prstGeom>
          <a:noFill/>
        </p:spPr>
        <p:txBody>
          <a:bodyPr wrap="square" rtlCol="0">
            <a:spAutoFit/>
          </a:bodyPr>
          <a:lstStyle/>
          <a:p>
            <a:r>
              <a:rPr lang="el-GR" dirty="0"/>
              <a:t>μ</a:t>
            </a:r>
            <a:endParaRPr lang="ru-RU" dirty="0"/>
          </a:p>
        </p:txBody>
      </p:sp>
      <p:sp>
        <p:nvSpPr>
          <p:cNvPr id="181" name="Овал 180"/>
          <p:cNvSpPr/>
          <p:nvPr/>
        </p:nvSpPr>
        <p:spPr>
          <a:xfrm>
            <a:off x="7928543" y="4782115"/>
            <a:ext cx="435552" cy="21310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2" name="TextBox 181"/>
          <p:cNvSpPr txBox="1"/>
          <p:nvPr/>
        </p:nvSpPr>
        <p:spPr>
          <a:xfrm>
            <a:off x="7980407" y="4715082"/>
            <a:ext cx="383688" cy="369332"/>
          </a:xfrm>
          <a:prstGeom prst="rect">
            <a:avLst/>
          </a:prstGeom>
          <a:noFill/>
        </p:spPr>
        <p:txBody>
          <a:bodyPr wrap="square" rtlCol="0">
            <a:spAutoFit/>
          </a:bodyPr>
          <a:lstStyle/>
          <a:p>
            <a:r>
              <a:rPr lang="el-GR" dirty="0"/>
              <a:t>σ</a:t>
            </a:r>
            <a:r>
              <a:rPr lang="en-US" baseline="30000" dirty="0"/>
              <a:t>2</a:t>
            </a:r>
            <a:endParaRPr lang="ru-RU" dirty="0"/>
          </a:p>
        </p:txBody>
      </p:sp>
      <p:sp>
        <p:nvSpPr>
          <p:cNvPr id="183" name="Овал 182"/>
          <p:cNvSpPr/>
          <p:nvPr/>
        </p:nvSpPr>
        <p:spPr>
          <a:xfrm>
            <a:off x="7916689" y="4310934"/>
            <a:ext cx="459259" cy="23938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84" name="TextBox 183"/>
          <p:cNvSpPr txBox="1"/>
          <p:nvPr/>
        </p:nvSpPr>
        <p:spPr>
          <a:xfrm>
            <a:off x="7987811" y="4262648"/>
            <a:ext cx="404572" cy="369332"/>
          </a:xfrm>
          <a:prstGeom prst="rect">
            <a:avLst/>
          </a:prstGeom>
          <a:noFill/>
        </p:spPr>
        <p:txBody>
          <a:bodyPr wrap="square" rtlCol="0">
            <a:spAutoFit/>
          </a:bodyPr>
          <a:lstStyle/>
          <a:p>
            <a:r>
              <a:rPr lang="en-US" dirty="0" smtClean="0"/>
              <a:t>X</a:t>
            </a:r>
            <a:r>
              <a:rPr lang="en-US" sz="800" dirty="0" smtClean="0"/>
              <a:t>0</a:t>
            </a:r>
            <a:endParaRPr lang="ru-RU" sz="800" dirty="0"/>
          </a:p>
        </p:txBody>
      </p:sp>
      <p:sp>
        <p:nvSpPr>
          <p:cNvPr id="185" name="TextBox 184"/>
          <p:cNvSpPr txBox="1"/>
          <p:nvPr/>
        </p:nvSpPr>
        <p:spPr>
          <a:xfrm>
            <a:off x="5879608" y="4247451"/>
            <a:ext cx="1560837" cy="369332"/>
          </a:xfrm>
          <a:prstGeom prst="rect">
            <a:avLst/>
          </a:prstGeom>
          <a:noFill/>
        </p:spPr>
        <p:txBody>
          <a:bodyPr wrap="square" rtlCol="0">
            <a:spAutoFit/>
          </a:bodyPr>
          <a:lstStyle/>
          <a:p>
            <a:pPr algn="ctr"/>
            <a:r>
              <a:rPr lang="en-US" dirty="0" smtClean="0"/>
              <a:t>X</a:t>
            </a:r>
            <a:r>
              <a:rPr lang="en-US" sz="1100" dirty="0" smtClean="0"/>
              <a:t>t-1</a:t>
            </a:r>
            <a:r>
              <a:rPr lang="en-US" dirty="0" smtClean="0"/>
              <a:t> </a:t>
            </a:r>
            <a:r>
              <a:rPr lang="en-US" sz="1400" dirty="0" smtClean="0"/>
              <a:t>~</a:t>
            </a:r>
            <a:r>
              <a:rPr lang="en-US" dirty="0" smtClean="0"/>
              <a:t> N(</a:t>
            </a:r>
            <a:r>
              <a:rPr lang="el-GR" dirty="0" smtClean="0"/>
              <a:t>μ</a:t>
            </a:r>
            <a:r>
              <a:rPr lang="en-US" dirty="0" smtClean="0"/>
              <a:t>,</a:t>
            </a:r>
            <a:r>
              <a:rPr lang="el-GR" dirty="0" smtClean="0"/>
              <a:t> </a:t>
            </a:r>
            <a:r>
              <a:rPr lang="el-GR" dirty="0"/>
              <a:t>σ</a:t>
            </a:r>
            <a:r>
              <a:rPr lang="en-US" baseline="30000" dirty="0" smtClean="0"/>
              <a:t>2</a:t>
            </a:r>
            <a:r>
              <a:rPr lang="en-US" dirty="0" smtClean="0"/>
              <a:t>) </a:t>
            </a:r>
            <a:endParaRPr lang="ru-RU" dirty="0"/>
          </a:p>
        </p:txBody>
      </p:sp>
      <p:sp>
        <p:nvSpPr>
          <p:cNvPr id="186" name="Прямоугольник 185"/>
          <p:cNvSpPr/>
          <p:nvPr/>
        </p:nvSpPr>
        <p:spPr>
          <a:xfrm>
            <a:off x="6010997" y="4190059"/>
            <a:ext cx="1297173" cy="4659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cxnSp>
        <p:nvCxnSpPr>
          <p:cNvPr id="188" name="Прямая со стрелкой 187"/>
          <p:cNvCxnSpPr/>
          <p:nvPr/>
        </p:nvCxnSpPr>
        <p:spPr>
          <a:xfrm flipH="1" flipV="1">
            <a:off x="7306445" y="4429501"/>
            <a:ext cx="60451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0" name="Прямая со стрелкой 189"/>
          <p:cNvCxnSpPr>
            <a:stCxn id="179" idx="2"/>
          </p:cNvCxnSpPr>
          <p:nvPr/>
        </p:nvCxnSpPr>
        <p:spPr>
          <a:xfrm flipH="1">
            <a:off x="7306445" y="3982205"/>
            <a:ext cx="598391" cy="3287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2" name="Прямая со стрелкой 191"/>
          <p:cNvCxnSpPr>
            <a:stCxn id="181" idx="2"/>
          </p:cNvCxnSpPr>
          <p:nvPr/>
        </p:nvCxnSpPr>
        <p:spPr>
          <a:xfrm flipH="1" flipV="1">
            <a:off x="7306445" y="4570617"/>
            <a:ext cx="622098" cy="31805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4" name="Прямая со стрелкой 193"/>
          <p:cNvCxnSpPr>
            <a:stCxn id="186" idx="1"/>
          </p:cNvCxnSpPr>
          <p:nvPr/>
        </p:nvCxnSpPr>
        <p:spPr>
          <a:xfrm flipH="1">
            <a:off x="5457802" y="4423011"/>
            <a:ext cx="553195" cy="64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5" name="Прямоугольник 194"/>
          <p:cNvSpPr/>
          <p:nvPr/>
        </p:nvSpPr>
        <p:spPr>
          <a:xfrm>
            <a:off x="4033855" y="4140209"/>
            <a:ext cx="1421656" cy="58943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6" name="TextBox 195"/>
          <p:cNvSpPr txBox="1"/>
          <p:nvPr/>
        </p:nvSpPr>
        <p:spPr>
          <a:xfrm>
            <a:off x="4075913" y="4099845"/>
            <a:ext cx="1352726" cy="646331"/>
          </a:xfrm>
          <a:prstGeom prst="rect">
            <a:avLst/>
          </a:prstGeom>
          <a:noFill/>
        </p:spPr>
        <p:txBody>
          <a:bodyPr wrap="square" rtlCol="0">
            <a:spAutoFit/>
          </a:bodyPr>
          <a:lstStyle/>
          <a:p>
            <a:pPr algn="ctr"/>
            <a:r>
              <a:rPr lang="en-US" dirty="0" smtClean="0"/>
              <a:t>Synthesized data</a:t>
            </a:r>
            <a:endParaRPr lang="ru-RU" dirty="0"/>
          </a:p>
        </p:txBody>
      </p:sp>
      <p:sp>
        <p:nvSpPr>
          <p:cNvPr id="197" name="Прямоугольник 196"/>
          <p:cNvSpPr/>
          <p:nvPr/>
        </p:nvSpPr>
        <p:spPr>
          <a:xfrm>
            <a:off x="181729" y="4133439"/>
            <a:ext cx="1482566" cy="588019"/>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198" name="TextBox 197"/>
          <p:cNvSpPr txBox="1"/>
          <p:nvPr/>
        </p:nvSpPr>
        <p:spPr>
          <a:xfrm>
            <a:off x="242927" y="4075127"/>
            <a:ext cx="1325514" cy="646331"/>
          </a:xfrm>
          <a:prstGeom prst="rect">
            <a:avLst/>
          </a:prstGeom>
          <a:noFill/>
        </p:spPr>
        <p:txBody>
          <a:bodyPr wrap="square" rtlCol="0">
            <a:spAutoFit/>
          </a:bodyPr>
          <a:lstStyle/>
          <a:p>
            <a:pPr algn="ctr"/>
            <a:r>
              <a:rPr lang="en-US" dirty="0" smtClean="0"/>
              <a:t>Input (</a:t>
            </a:r>
            <a:r>
              <a:rPr lang="en-US" dirty="0" err="1" smtClean="0"/>
              <a:t>x_majority</a:t>
            </a:r>
            <a:r>
              <a:rPr lang="en-US" dirty="0" smtClean="0"/>
              <a:t>)</a:t>
            </a:r>
            <a:endParaRPr lang="ru-RU" dirty="0"/>
          </a:p>
        </p:txBody>
      </p:sp>
      <p:cxnSp>
        <p:nvCxnSpPr>
          <p:cNvPr id="200" name="Прямая со стрелкой 199"/>
          <p:cNvCxnSpPr/>
          <p:nvPr/>
        </p:nvCxnSpPr>
        <p:spPr>
          <a:xfrm flipH="1">
            <a:off x="2865614" y="3627003"/>
            <a:ext cx="2005" cy="68330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2" name="Прямая со стрелкой 201"/>
          <p:cNvCxnSpPr>
            <a:stCxn id="197" idx="3"/>
            <a:endCxn id="38" idx="2"/>
          </p:cNvCxnSpPr>
          <p:nvPr/>
        </p:nvCxnSpPr>
        <p:spPr>
          <a:xfrm>
            <a:off x="1664295" y="4427449"/>
            <a:ext cx="1098863" cy="2052"/>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1" name="Прямая соединительная линия 210"/>
          <p:cNvCxnSpPr/>
          <p:nvPr/>
        </p:nvCxnSpPr>
        <p:spPr>
          <a:xfrm flipH="1">
            <a:off x="886688" y="3102558"/>
            <a:ext cx="3534" cy="525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Прямая со стрелкой 224"/>
          <p:cNvCxnSpPr>
            <a:stCxn id="195" idx="1"/>
            <a:endCxn id="38" idx="6"/>
          </p:cNvCxnSpPr>
          <p:nvPr/>
        </p:nvCxnSpPr>
        <p:spPr>
          <a:xfrm flipH="1" flipV="1">
            <a:off x="2958366" y="4429501"/>
            <a:ext cx="1075489" cy="5425"/>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8" name="Соединительная линия уступом 237"/>
          <p:cNvCxnSpPr/>
          <p:nvPr/>
        </p:nvCxnSpPr>
        <p:spPr>
          <a:xfrm rot="5400000">
            <a:off x="1532922" y="3906820"/>
            <a:ext cx="705498" cy="1950181"/>
          </a:xfrm>
          <a:prstGeom prst="bentConnector3">
            <a:avLst>
              <a:gd name="adj1" fmla="val 56546"/>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2" name="Прямая со стрелкой 241"/>
          <p:cNvCxnSpPr>
            <a:stCxn id="41" idx="3"/>
          </p:cNvCxnSpPr>
          <p:nvPr/>
        </p:nvCxnSpPr>
        <p:spPr>
          <a:xfrm>
            <a:off x="1658389" y="5553405"/>
            <a:ext cx="6761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4" name="Прямая со стрелкой 243"/>
          <p:cNvCxnSpPr/>
          <p:nvPr/>
        </p:nvCxnSpPr>
        <p:spPr>
          <a:xfrm>
            <a:off x="3614491" y="5553405"/>
            <a:ext cx="676103"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8" name="Соединительная линия уступом 247"/>
          <p:cNvCxnSpPr>
            <a:stCxn id="186" idx="2"/>
            <a:endCxn id="150" idx="2"/>
          </p:cNvCxnSpPr>
          <p:nvPr/>
        </p:nvCxnSpPr>
        <p:spPr>
          <a:xfrm rot="5400000" flipH="1" flipV="1">
            <a:off x="8719406" y="2592633"/>
            <a:ext cx="3508" cy="4123152"/>
          </a:xfrm>
          <a:prstGeom prst="bentConnector3">
            <a:avLst>
              <a:gd name="adj1" fmla="val -12045724"/>
            </a:avLst>
          </a:prstGeom>
          <a:ln>
            <a:tailEnd type="triangle"/>
          </a:ln>
        </p:spPr>
        <p:style>
          <a:lnRef idx="1">
            <a:schemeClr val="accent1"/>
          </a:lnRef>
          <a:fillRef idx="0">
            <a:schemeClr val="accent1"/>
          </a:fillRef>
          <a:effectRef idx="0">
            <a:schemeClr val="accent1"/>
          </a:effectRef>
          <a:fontRef idx="minor">
            <a:schemeClr val="tx1"/>
          </a:fontRef>
        </p:style>
      </p:cxnSp>
      <p:sp>
        <p:nvSpPr>
          <p:cNvPr id="262" name="TextBox 261"/>
          <p:cNvSpPr txBox="1"/>
          <p:nvPr/>
        </p:nvSpPr>
        <p:spPr>
          <a:xfrm>
            <a:off x="6759091" y="6369056"/>
            <a:ext cx="1281626" cy="276999"/>
          </a:xfrm>
          <a:prstGeom prst="rect">
            <a:avLst/>
          </a:prstGeom>
          <a:noFill/>
        </p:spPr>
        <p:txBody>
          <a:bodyPr wrap="square" rtlCol="0">
            <a:spAutoFit/>
          </a:bodyPr>
          <a:lstStyle/>
          <a:p>
            <a:r>
              <a:rPr lang="en-US" sz="1200" dirty="0" smtClean="0"/>
              <a:t>- Adam optimizer</a:t>
            </a:r>
            <a:endParaRPr lang="ru-RU" sz="1200" dirty="0"/>
          </a:p>
        </p:txBody>
      </p:sp>
      <p:sp>
        <p:nvSpPr>
          <p:cNvPr id="263" name="Овал 262"/>
          <p:cNvSpPr/>
          <p:nvPr/>
        </p:nvSpPr>
        <p:spPr>
          <a:xfrm>
            <a:off x="6558503" y="5853009"/>
            <a:ext cx="222723" cy="24088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4" name="TextBox 263"/>
          <p:cNvSpPr txBox="1"/>
          <p:nvPr/>
        </p:nvSpPr>
        <p:spPr>
          <a:xfrm>
            <a:off x="6767985" y="5828074"/>
            <a:ext cx="1191955" cy="276999"/>
          </a:xfrm>
          <a:prstGeom prst="rect">
            <a:avLst/>
          </a:prstGeom>
          <a:noFill/>
        </p:spPr>
        <p:txBody>
          <a:bodyPr wrap="square" rtlCol="0">
            <a:spAutoFit/>
          </a:bodyPr>
          <a:lstStyle/>
          <a:p>
            <a:r>
              <a:rPr lang="en-US" sz="1200" dirty="0"/>
              <a:t>- concatenation</a:t>
            </a:r>
            <a:endParaRPr lang="ru-RU" sz="1200" dirty="0"/>
          </a:p>
        </p:txBody>
      </p:sp>
      <p:sp>
        <p:nvSpPr>
          <p:cNvPr id="265" name="TextBox 264"/>
          <p:cNvSpPr txBox="1"/>
          <p:nvPr/>
        </p:nvSpPr>
        <p:spPr>
          <a:xfrm>
            <a:off x="6515226" y="5781907"/>
            <a:ext cx="194007" cy="369332"/>
          </a:xfrm>
          <a:prstGeom prst="rect">
            <a:avLst/>
          </a:prstGeom>
          <a:noFill/>
        </p:spPr>
        <p:txBody>
          <a:bodyPr wrap="square" rtlCol="0">
            <a:spAutoFit/>
          </a:bodyPr>
          <a:lstStyle/>
          <a:p>
            <a:r>
              <a:rPr lang="en-US" dirty="0" smtClean="0"/>
              <a:t>c</a:t>
            </a:r>
            <a:endParaRPr lang="ru-RU" dirty="0"/>
          </a:p>
        </p:txBody>
      </p:sp>
      <p:sp>
        <p:nvSpPr>
          <p:cNvPr id="266" name="Овал 265"/>
          <p:cNvSpPr/>
          <p:nvPr/>
        </p:nvSpPr>
        <p:spPr>
          <a:xfrm>
            <a:off x="6558503" y="6400616"/>
            <a:ext cx="216908" cy="209614"/>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267" name="TextBox 266"/>
          <p:cNvSpPr txBox="1"/>
          <p:nvPr/>
        </p:nvSpPr>
        <p:spPr>
          <a:xfrm>
            <a:off x="8416422" y="5813264"/>
            <a:ext cx="1623287" cy="830997"/>
          </a:xfrm>
          <a:prstGeom prst="rect">
            <a:avLst/>
          </a:prstGeom>
          <a:noFill/>
        </p:spPr>
        <p:txBody>
          <a:bodyPr wrap="square" rtlCol="0">
            <a:spAutoFit/>
          </a:bodyPr>
          <a:lstStyle/>
          <a:p>
            <a:r>
              <a:rPr lang="en-US" sz="1200" dirty="0" smtClean="0"/>
              <a:t>t* - random step t</a:t>
            </a:r>
          </a:p>
          <a:p>
            <a:r>
              <a:rPr lang="el-GR" sz="1200" dirty="0"/>
              <a:t>ε</a:t>
            </a:r>
            <a:r>
              <a:rPr lang="en-US" sz="1200" dirty="0" smtClean="0"/>
              <a:t>* - generation noise</a:t>
            </a:r>
          </a:p>
          <a:p>
            <a:r>
              <a:rPr lang="en-US" sz="1200" dirty="0" smtClean="0"/>
              <a:t>B = </a:t>
            </a:r>
            <a:r>
              <a:rPr lang="en-US" sz="1200" dirty="0"/>
              <a:t>10000</a:t>
            </a:r>
          </a:p>
          <a:p>
            <a:r>
              <a:rPr lang="en-US" sz="1200" dirty="0" smtClean="0"/>
              <a:t>D = 27</a:t>
            </a:r>
          </a:p>
        </p:txBody>
      </p:sp>
      <p:sp>
        <p:nvSpPr>
          <p:cNvPr id="268" name="TextBox 267"/>
          <p:cNvSpPr txBox="1"/>
          <p:nvPr/>
        </p:nvSpPr>
        <p:spPr>
          <a:xfrm>
            <a:off x="10089730" y="5765429"/>
            <a:ext cx="1474667" cy="1015663"/>
          </a:xfrm>
          <a:prstGeom prst="rect">
            <a:avLst/>
          </a:prstGeom>
          <a:noFill/>
        </p:spPr>
        <p:txBody>
          <a:bodyPr wrap="square" rtlCol="0">
            <a:spAutoFit/>
          </a:bodyPr>
          <a:lstStyle/>
          <a:p>
            <a:r>
              <a:rPr lang="en-US" sz="1200" dirty="0" smtClean="0"/>
              <a:t>T = 300</a:t>
            </a:r>
          </a:p>
          <a:p>
            <a:r>
              <a:rPr lang="en-US" sz="1200" dirty="0" err="1" smtClean="0"/>
              <a:t>Input_dim</a:t>
            </a:r>
            <a:r>
              <a:rPr lang="en-US" sz="1200" dirty="0" smtClean="0"/>
              <a:t> = 27</a:t>
            </a:r>
          </a:p>
          <a:p>
            <a:r>
              <a:rPr lang="en-US" sz="1200" dirty="0" err="1" smtClean="0"/>
              <a:t>X_minority</a:t>
            </a:r>
            <a:r>
              <a:rPr lang="en-US" sz="1200" dirty="0" smtClean="0"/>
              <a:t> = 8000</a:t>
            </a:r>
          </a:p>
          <a:p>
            <a:r>
              <a:rPr lang="en-US" sz="1200" dirty="0" err="1" smtClean="0"/>
              <a:t>X_majority</a:t>
            </a:r>
            <a:r>
              <a:rPr lang="en-US" sz="1200" dirty="0" smtClean="0"/>
              <a:t> = 28000</a:t>
            </a:r>
          </a:p>
          <a:p>
            <a:endParaRPr lang="ru-RU" sz="1200" dirty="0"/>
          </a:p>
        </p:txBody>
      </p:sp>
    </p:spTree>
    <p:extLst>
      <p:ext uri="{BB962C8B-B14F-4D97-AF65-F5344CB8AC3E}">
        <p14:creationId xmlns:p14="http://schemas.microsoft.com/office/powerpoint/2010/main" val="27939495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28180"/>
            <a:ext cx="10515600" cy="881784"/>
          </a:xfrm>
        </p:spPr>
        <p:txBody>
          <a:bodyPr/>
          <a:lstStyle/>
          <a:p>
            <a:r>
              <a:rPr lang="en-US" dirty="0"/>
              <a:t>Comparing Neural Networks</a:t>
            </a:r>
            <a:endParaRPr lang="ru-RU" dirty="0"/>
          </a:p>
        </p:txBody>
      </p:sp>
      <p:graphicFrame>
        <p:nvGraphicFramePr>
          <p:cNvPr id="4" name="Объект 3"/>
          <p:cNvGraphicFramePr>
            <a:graphicFrameLocks noGrp="1"/>
          </p:cNvGraphicFramePr>
          <p:nvPr>
            <p:ph idx="1"/>
            <p:extLst>
              <p:ext uri="{D42A27DB-BD31-4B8C-83A1-F6EECF244321}">
                <p14:modId xmlns:p14="http://schemas.microsoft.com/office/powerpoint/2010/main" val="4017263855"/>
              </p:ext>
            </p:extLst>
          </p:nvPr>
        </p:nvGraphicFramePr>
        <p:xfrm>
          <a:off x="838200" y="1807152"/>
          <a:ext cx="10515600" cy="1854200"/>
        </p:xfrm>
        <a:graphic>
          <a:graphicData uri="http://schemas.openxmlformats.org/drawingml/2006/table">
            <a:tbl>
              <a:tblPr firstRow="1" bandRow="1">
                <a:tableStyleId>{69CF1AB2-1976-4502-BF36-3FF5EA218861}</a:tableStyleId>
              </a:tblPr>
              <a:tblGrid>
                <a:gridCol w="1895764">
                  <a:extLst>
                    <a:ext uri="{9D8B030D-6E8A-4147-A177-3AD203B41FA5}">
                      <a16:colId xmlns:a16="http://schemas.microsoft.com/office/drawing/2014/main" val="2303121606"/>
                    </a:ext>
                  </a:extLst>
                </a:gridCol>
                <a:gridCol w="2032000">
                  <a:extLst>
                    <a:ext uri="{9D8B030D-6E8A-4147-A177-3AD203B41FA5}">
                      <a16:colId xmlns:a16="http://schemas.microsoft.com/office/drawing/2014/main" val="1099359818"/>
                    </a:ext>
                  </a:extLst>
                </a:gridCol>
                <a:gridCol w="2142836">
                  <a:extLst>
                    <a:ext uri="{9D8B030D-6E8A-4147-A177-3AD203B41FA5}">
                      <a16:colId xmlns:a16="http://schemas.microsoft.com/office/drawing/2014/main" val="1965459404"/>
                    </a:ext>
                  </a:extLst>
                </a:gridCol>
                <a:gridCol w="2133600">
                  <a:extLst>
                    <a:ext uri="{9D8B030D-6E8A-4147-A177-3AD203B41FA5}">
                      <a16:colId xmlns:a16="http://schemas.microsoft.com/office/drawing/2014/main" val="1140257819"/>
                    </a:ext>
                  </a:extLst>
                </a:gridCol>
                <a:gridCol w="2311400">
                  <a:extLst>
                    <a:ext uri="{9D8B030D-6E8A-4147-A177-3AD203B41FA5}">
                      <a16:colId xmlns:a16="http://schemas.microsoft.com/office/drawing/2014/main" val="4003519558"/>
                    </a:ext>
                  </a:extLst>
                </a:gridCol>
              </a:tblGrid>
              <a:tr h="370840">
                <a:tc>
                  <a:txBody>
                    <a:bodyPr/>
                    <a:lstStyle/>
                    <a:p>
                      <a:endParaRPr lang="ru-RU" dirty="0"/>
                    </a:p>
                  </a:txBody>
                  <a:tcPr>
                    <a:lnTlToBr w="12700" cap="flat" cmpd="sng" algn="ctr">
                      <a:solidFill>
                        <a:schemeClr val="tx1"/>
                      </a:solidFill>
                      <a:prstDash val="solid"/>
                      <a:round/>
                      <a:headEnd type="none" w="med" len="med"/>
                      <a:tailEnd type="none" w="med" len="med"/>
                    </a:lnTlToBr>
                  </a:tcPr>
                </a:tc>
                <a:tc>
                  <a:txBody>
                    <a:bodyPr/>
                    <a:lstStyle/>
                    <a:p>
                      <a:r>
                        <a:rPr lang="en-US" dirty="0" err="1" smtClean="0"/>
                        <a:t>XGBoost</a:t>
                      </a:r>
                      <a:endParaRPr lang="ru-RU" dirty="0"/>
                    </a:p>
                  </a:txBody>
                  <a:tcPr/>
                </a:tc>
                <a:tc>
                  <a:txBody>
                    <a:bodyPr/>
                    <a:lstStyle/>
                    <a:p>
                      <a:r>
                        <a:rPr lang="en-US" dirty="0" err="1" smtClean="0"/>
                        <a:t>XGBoost</a:t>
                      </a:r>
                      <a:r>
                        <a:rPr lang="en-US" dirty="0" smtClean="0"/>
                        <a:t> + GAN</a:t>
                      </a:r>
                      <a:endParaRPr lang="ru-RU" dirty="0"/>
                    </a:p>
                  </a:txBody>
                  <a:tcPr/>
                </a:tc>
                <a:tc>
                  <a:txBody>
                    <a:bodyPr/>
                    <a:lstStyle/>
                    <a:p>
                      <a:r>
                        <a:rPr lang="en-US" dirty="0" err="1" smtClean="0"/>
                        <a:t>XGBoost</a:t>
                      </a:r>
                      <a:r>
                        <a:rPr lang="en-US" dirty="0" smtClean="0"/>
                        <a:t> + VAE</a:t>
                      </a:r>
                      <a:endParaRPr lang="ru-RU" dirty="0"/>
                    </a:p>
                  </a:txBody>
                  <a:tcPr/>
                </a:tc>
                <a:tc>
                  <a:txBody>
                    <a:bodyPr/>
                    <a:lstStyle/>
                    <a:p>
                      <a:r>
                        <a:rPr lang="en-US" dirty="0" err="1" smtClean="0"/>
                        <a:t>XGBoost</a:t>
                      </a:r>
                      <a:r>
                        <a:rPr lang="en-US" dirty="0" smtClean="0"/>
                        <a:t>  + Diffusion</a:t>
                      </a:r>
                      <a:endParaRPr lang="ru-RU" dirty="0"/>
                    </a:p>
                  </a:txBody>
                  <a:tcPr/>
                </a:tc>
                <a:extLst>
                  <a:ext uri="{0D108BD9-81ED-4DB2-BD59-A6C34878D82A}">
                    <a16:rowId xmlns:a16="http://schemas.microsoft.com/office/drawing/2014/main" val="1983811628"/>
                  </a:ext>
                </a:extLst>
              </a:tr>
              <a:tr h="370840">
                <a:tc>
                  <a:txBody>
                    <a:bodyPr/>
                    <a:lstStyle/>
                    <a:p>
                      <a:r>
                        <a:rPr lang="en-US" dirty="0" smtClean="0"/>
                        <a:t>Accuracy</a:t>
                      </a:r>
                      <a:endParaRPr lang="ru-RU" dirty="0"/>
                    </a:p>
                  </a:txBody>
                  <a:tcPr/>
                </a:tc>
                <a:tc>
                  <a:txBody>
                    <a:bodyPr/>
                    <a:lstStyle/>
                    <a:p>
                      <a:r>
                        <a:rPr lang="en-US" dirty="0" smtClean="0"/>
                        <a:t>0.93</a:t>
                      </a:r>
                      <a:endParaRPr lang="ru-RU" dirty="0"/>
                    </a:p>
                  </a:txBody>
                  <a:tcPr/>
                </a:tc>
                <a:tc>
                  <a:txBody>
                    <a:bodyPr/>
                    <a:lstStyle/>
                    <a:p>
                      <a:r>
                        <a:rPr lang="en-US" dirty="0" smtClean="0"/>
                        <a:t>0.93</a:t>
                      </a:r>
                      <a:endParaRPr lang="ru-RU" dirty="0"/>
                    </a:p>
                  </a:txBody>
                  <a:tcPr/>
                </a:tc>
                <a:tc>
                  <a:txBody>
                    <a:bodyPr/>
                    <a:lstStyle/>
                    <a:p>
                      <a:r>
                        <a:rPr lang="en-US" dirty="0" smtClean="0"/>
                        <a:t>0.94</a:t>
                      </a:r>
                      <a:endParaRPr lang="ru-RU" dirty="0"/>
                    </a:p>
                  </a:txBody>
                  <a:tcPr/>
                </a:tc>
                <a:tc>
                  <a:txBody>
                    <a:bodyPr/>
                    <a:lstStyle/>
                    <a:p>
                      <a:r>
                        <a:rPr lang="en-US" dirty="0" smtClean="0"/>
                        <a:t>0.95</a:t>
                      </a:r>
                      <a:endParaRPr lang="ru-RU" dirty="0"/>
                    </a:p>
                  </a:txBody>
                  <a:tcPr/>
                </a:tc>
                <a:extLst>
                  <a:ext uri="{0D108BD9-81ED-4DB2-BD59-A6C34878D82A}">
                    <a16:rowId xmlns:a16="http://schemas.microsoft.com/office/drawing/2014/main" val="1192424765"/>
                  </a:ext>
                </a:extLst>
              </a:tr>
              <a:tr h="370840">
                <a:tc>
                  <a:txBody>
                    <a:bodyPr/>
                    <a:lstStyle/>
                    <a:p>
                      <a:r>
                        <a:rPr lang="en-US" dirty="0" smtClean="0"/>
                        <a:t>Precision</a:t>
                      </a:r>
                      <a:endParaRPr lang="ru-RU" dirty="0"/>
                    </a:p>
                  </a:txBody>
                  <a:tcPr/>
                </a:tc>
                <a:tc>
                  <a:txBody>
                    <a:bodyPr/>
                    <a:lstStyle/>
                    <a:p>
                      <a:r>
                        <a:rPr lang="en-US" dirty="0" smtClean="0"/>
                        <a:t>0.94</a:t>
                      </a:r>
                      <a:endParaRPr lang="ru-RU" dirty="0"/>
                    </a:p>
                  </a:txBody>
                  <a:tcPr/>
                </a:tc>
                <a:tc>
                  <a:txBody>
                    <a:bodyPr/>
                    <a:lstStyle/>
                    <a:p>
                      <a:r>
                        <a:rPr lang="en-US" dirty="0" smtClean="0"/>
                        <a:t>0.95</a:t>
                      </a:r>
                      <a:endParaRPr lang="ru-RU" dirty="0"/>
                    </a:p>
                  </a:txBody>
                  <a:tcPr/>
                </a:tc>
                <a:tc>
                  <a:txBody>
                    <a:bodyPr/>
                    <a:lstStyle/>
                    <a:p>
                      <a:r>
                        <a:rPr lang="en-US" dirty="0" smtClean="0"/>
                        <a:t>0.95</a:t>
                      </a:r>
                      <a:endParaRPr lang="ru-RU" dirty="0"/>
                    </a:p>
                  </a:txBody>
                  <a:tcPr/>
                </a:tc>
                <a:tc>
                  <a:txBody>
                    <a:bodyPr/>
                    <a:lstStyle/>
                    <a:p>
                      <a:r>
                        <a:rPr lang="en-US" dirty="0" smtClean="0"/>
                        <a:t>0.95</a:t>
                      </a:r>
                      <a:endParaRPr lang="ru-RU" dirty="0"/>
                    </a:p>
                  </a:txBody>
                  <a:tcPr/>
                </a:tc>
                <a:extLst>
                  <a:ext uri="{0D108BD9-81ED-4DB2-BD59-A6C34878D82A}">
                    <a16:rowId xmlns:a16="http://schemas.microsoft.com/office/drawing/2014/main" val="1666148064"/>
                  </a:ext>
                </a:extLst>
              </a:tr>
              <a:tr h="370840">
                <a:tc>
                  <a:txBody>
                    <a:bodyPr/>
                    <a:lstStyle/>
                    <a:p>
                      <a:r>
                        <a:rPr lang="en-US" dirty="0" smtClean="0"/>
                        <a:t>Recall</a:t>
                      </a:r>
                      <a:endParaRPr lang="ru-RU" dirty="0"/>
                    </a:p>
                  </a:txBody>
                  <a:tcPr/>
                </a:tc>
                <a:tc>
                  <a:txBody>
                    <a:bodyPr/>
                    <a:lstStyle/>
                    <a:p>
                      <a:r>
                        <a:rPr lang="en-US" dirty="0" smtClean="0"/>
                        <a:t>0.97</a:t>
                      </a:r>
                      <a:endParaRPr lang="ru-RU" dirty="0"/>
                    </a:p>
                  </a:txBody>
                  <a:tcPr/>
                </a:tc>
                <a:tc>
                  <a:txBody>
                    <a:bodyPr/>
                    <a:lstStyle/>
                    <a:p>
                      <a:r>
                        <a:rPr lang="en-US" dirty="0" smtClean="0"/>
                        <a:t>0.97</a:t>
                      </a:r>
                      <a:endParaRPr lang="ru-RU" dirty="0"/>
                    </a:p>
                  </a:txBody>
                  <a:tcPr/>
                </a:tc>
                <a:tc>
                  <a:txBody>
                    <a:bodyPr/>
                    <a:lstStyle/>
                    <a:p>
                      <a:r>
                        <a:rPr lang="en-US" dirty="0" smtClean="0"/>
                        <a:t>0.97</a:t>
                      </a:r>
                      <a:endParaRPr lang="ru-RU" dirty="0"/>
                    </a:p>
                  </a:txBody>
                  <a:tcPr/>
                </a:tc>
                <a:tc>
                  <a:txBody>
                    <a:bodyPr/>
                    <a:lstStyle/>
                    <a:p>
                      <a:r>
                        <a:rPr lang="en-US" dirty="0" smtClean="0"/>
                        <a:t>0.97</a:t>
                      </a:r>
                      <a:endParaRPr lang="ru-RU" dirty="0"/>
                    </a:p>
                  </a:txBody>
                  <a:tcPr/>
                </a:tc>
                <a:extLst>
                  <a:ext uri="{0D108BD9-81ED-4DB2-BD59-A6C34878D82A}">
                    <a16:rowId xmlns:a16="http://schemas.microsoft.com/office/drawing/2014/main" val="4087008333"/>
                  </a:ext>
                </a:extLst>
              </a:tr>
              <a:tr h="370840">
                <a:tc>
                  <a:txBody>
                    <a:bodyPr/>
                    <a:lstStyle/>
                    <a:p>
                      <a:r>
                        <a:rPr lang="en-US" dirty="0" smtClean="0"/>
                        <a:t>F1-score</a:t>
                      </a:r>
                      <a:endParaRPr lang="ru-RU" dirty="0"/>
                    </a:p>
                  </a:txBody>
                  <a:tcPr/>
                </a:tc>
                <a:tc>
                  <a:txBody>
                    <a:bodyPr/>
                    <a:lstStyle/>
                    <a:p>
                      <a:r>
                        <a:rPr lang="en-US" dirty="0" smtClean="0"/>
                        <a:t>0.96</a:t>
                      </a:r>
                      <a:endParaRPr lang="ru-RU" dirty="0"/>
                    </a:p>
                  </a:txBody>
                  <a:tcPr/>
                </a:tc>
                <a:tc>
                  <a:txBody>
                    <a:bodyPr/>
                    <a:lstStyle/>
                    <a:p>
                      <a:r>
                        <a:rPr lang="en-US" dirty="0" smtClean="0"/>
                        <a:t>0.96</a:t>
                      </a:r>
                      <a:endParaRPr lang="ru-RU" dirty="0"/>
                    </a:p>
                  </a:txBody>
                  <a:tcPr/>
                </a:tc>
                <a:tc>
                  <a:txBody>
                    <a:bodyPr/>
                    <a:lstStyle/>
                    <a:p>
                      <a:r>
                        <a:rPr lang="en-US" dirty="0" smtClean="0"/>
                        <a:t>0.96</a:t>
                      </a:r>
                      <a:endParaRPr lang="ru-RU" dirty="0"/>
                    </a:p>
                  </a:txBody>
                  <a:tcPr/>
                </a:tc>
                <a:tc>
                  <a:txBody>
                    <a:bodyPr/>
                    <a:lstStyle/>
                    <a:p>
                      <a:r>
                        <a:rPr lang="en-US" dirty="0" smtClean="0"/>
                        <a:t>0.96</a:t>
                      </a:r>
                      <a:endParaRPr lang="ru-RU" dirty="0"/>
                    </a:p>
                  </a:txBody>
                  <a:tcPr/>
                </a:tc>
                <a:extLst>
                  <a:ext uri="{0D108BD9-81ED-4DB2-BD59-A6C34878D82A}">
                    <a16:rowId xmlns:a16="http://schemas.microsoft.com/office/drawing/2014/main" val="311499442"/>
                  </a:ext>
                </a:extLst>
              </a:tr>
            </a:tbl>
          </a:graphicData>
        </a:graphic>
      </p:graphicFrame>
      <p:graphicFrame>
        <p:nvGraphicFramePr>
          <p:cNvPr id="5" name="Объект 3"/>
          <p:cNvGraphicFramePr>
            <a:graphicFrameLocks/>
          </p:cNvGraphicFramePr>
          <p:nvPr>
            <p:extLst>
              <p:ext uri="{D42A27DB-BD31-4B8C-83A1-F6EECF244321}">
                <p14:modId xmlns:p14="http://schemas.microsoft.com/office/powerpoint/2010/main" val="4157570620"/>
              </p:ext>
            </p:extLst>
          </p:nvPr>
        </p:nvGraphicFramePr>
        <p:xfrm>
          <a:off x="838200" y="4342534"/>
          <a:ext cx="10515600" cy="1854200"/>
        </p:xfrm>
        <a:graphic>
          <a:graphicData uri="http://schemas.openxmlformats.org/drawingml/2006/table">
            <a:tbl>
              <a:tblPr firstRow="1" bandRow="1">
                <a:tableStyleId>{69CF1AB2-1976-4502-BF36-3FF5EA218861}</a:tableStyleId>
              </a:tblPr>
              <a:tblGrid>
                <a:gridCol w="1895764">
                  <a:extLst>
                    <a:ext uri="{9D8B030D-6E8A-4147-A177-3AD203B41FA5}">
                      <a16:colId xmlns:a16="http://schemas.microsoft.com/office/drawing/2014/main" val="2303121606"/>
                    </a:ext>
                  </a:extLst>
                </a:gridCol>
                <a:gridCol w="2032000">
                  <a:extLst>
                    <a:ext uri="{9D8B030D-6E8A-4147-A177-3AD203B41FA5}">
                      <a16:colId xmlns:a16="http://schemas.microsoft.com/office/drawing/2014/main" val="1099359818"/>
                    </a:ext>
                  </a:extLst>
                </a:gridCol>
                <a:gridCol w="2142836">
                  <a:extLst>
                    <a:ext uri="{9D8B030D-6E8A-4147-A177-3AD203B41FA5}">
                      <a16:colId xmlns:a16="http://schemas.microsoft.com/office/drawing/2014/main" val="1965459404"/>
                    </a:ext>
                  </a:extLst>
                </a:gridCol>
                <a:gridCol w="2133600">
                  <a:extLst>
                    <a:ext uri="{9D8B030D-6E8A-4147-A177-3AD203B41FA5}">
                      <a16:colId xmlns:a16="http://schemas.microsoft.com/office/drawing/2014/main" val="1140257819"/>
                    </a:ext>
                  </a:extLst>
                </a:gridCol>
                <a:gridCol w="2311400">
                  <a:extLst>
                    <a:ext uri="{9D8B030D-6E8A-4147-A177-3AD203B41FA5}">
                      <a16:colId xmlns:a16="http://schemas.microsoft.com/office/drawing/2014/main" val="4003519558"/>
                    </a:ext>
                  </a:extLst>
                </a:gridCol>
              </a:tblGrid>
              <a:tr h="370840">
                <a:tc>
                  <a:txBody>
                    <a:bodyPr/>
                    <a:lstStyle/>
                    <a:p>
                      <a:endParaRPr lang="ru-RU" dirty="0"/>
                    </a:p>
                  </a:txBody>
                  <a:tcPr>
                    <a:lnTlToBr w="12700" cap="flat" cmpd="sng" algn="ctr">
                      <a:solidFill>
                        <a:schemeClr val="tx1"/>
                      </a:solidFill>
                      <a:prstDash val="solid"/>
                      <a:round/>
                      <a:headEnd type="none" w="med" len="med"/>
                      <a:tailEnd type="none" w="med" len="med"/>
                    </a:lnTlToBr>
                  </a:tcPr>
                </a:tc>
                <a:tc>
                  <a:txBody>
                    <a:bodyPr/>
                    <a:lstStyle/>
                    <a:p>
                      <a:r>
                        <a:rPr lang="en-US" dirty="0" err="1" smtClean="0"/>
                        <a:t>XGBoost</a:t>
                      </a:r>
                      <a:endParaRPr lang="ru-RU" dirty="0"/>
                    </a:p>
                  </a:txBody>
                  <a:tcPr/>
                </a:tc>
                <a:tc>
                  <a:txBody>
                    <a:bodyPr/>
                    <a:lstStyle/>
                    <a:p>
                      <a:r>
                        <a:rPr lang="en-US" dirty="0" err="1" smtClean="0"/>
                        <a:t>XGBoost</a:t>
                      </a:r>
                      <a:r>
                        <a:rPr lang="en-US" dirty="0" smtClean="0"/>
                        <a:t> + GAN</a:t>
                      </a:r>
                      <a:endParaRPr lang="ru-RU" dirty="0"/>
                    </a:p>
                  </a:txBody>
                  <a:tcPr/>
                </a:tc>
                <a:tc>
                  <a:txBody>
                    <a:bodyPr/>
                    <a:lstStyle/>
                    <a:p>
                      <a:r>
                        <a:rPr lang="en-US" dirty="0" err="1" smtClean="0"/>
                        <a:t>XGBoost</a:t>
                      </a:r>
                      <a:r>
                        <a:rPr lang="en-US" dirty="0" smtClean="0"/>
                        <a:t> + VAE</a:t>
                      </a:r>
                      <a:endParaRPr lang="ru-RU" dirty="0"/>
                    </a:p>
                  </a:txBody>
                  <a:tcPr/>
                </a:tc>
                <a:tc>
                  <a:txBody>
                    <a:bodyPr/>
                    <a:lstStyle/>
                    <a:p>
                      <a:r>
                        <a:rPr lang="en-US" dirty="0" err="1" smtClean="0"/>
                        <a:t>XGBoost</a:t>
                      </a:r>
                      <a:r>
                        <a:rPr lang="en-US" dirty="0" smtClean="0"/>
                        <a:t>  + Diffusion</a:t>
                      </a:r>
                      <a:endParaRPr lang="ru-RU" dirty="0"/>
                    </a:p>
                  </a:txBody>
                  <a:tcPr/>
                </a:tc>
                <a:extLst>
                  <a:ext uri="{0D108BD9-81ED-4DB2-BD59-A6C34878D82A}">
                    <a16:rowId xmlns:a16="http://schemas.microsoft.com/office/drawing/2014/main" val="1983811628"/>
                  </a:ext>
                </a:extLst>
              </a:tr>
              <a:tr h="370840">
                <a:tc>
                  <a:txBody>
                    <a:bodyPr/>
                    <a:lstStyle/>
                    <a:p>
                      <a:r>
                        <a:rPr lang="en-US" dirty="0" smtClean="0"/>
                        <a:t>Accuracy</a:t>
                      </a:r>
                      <a:endParaRPr lang="ru-RU" dirty="0"/>
                    </a:p>
                  </a:txBody>
                  <a:tcPr/>
                </a:tc>
                <a:tc>
                  <a:txBody>
                    <a:bodyPr/>
                    <a:lstStyle/>
                    <a:p>
                      <a:r>
                        <a:rPr lang="en-US" dirty="0" smtClean="0"/>
                        <a:t>0.93</a:t>
                      </a:r>
                      <a:endParaRPr lang="ru-RU" dirty="0"/>
                    </a:p>
                  </a:txBody>
                  <a:tcPr/>
                </a:tc>
                <a:tc>
                  <a:txBody>
                    <a:bodyPr/>
                    <a:lstStyle/>
                    <a:p>
                      <a:r>
                        <a:rPr lang="en-US" dirty="0" smtClean="0"/>
                        <a:t>0.93</a:t>
                      </a:r>
                      <a:endParaRPr lang="ru-RU" dirty="0"/>
                    </a:p>
                  </a:txBody>
                  <a:tcPr/>
                </a:tc>
                <a:tc>
                  <a:txBody>
                    <a:bodyPr/>
                    <a:lstStyle/>
                    <a:p>
                      <a:r>
                        <a:rPr lang="en-US" dirty="0" smtClean="0"/>
                        <a:t>0.94</a:t>
                      </a:r>
                      <a:endParaRPr lang="ru-RU" dirty="0"/>
                    </a:p>
                  </a:txBody>
                  <a:tcPr/>
                </a:tc>
                <a:tc>
                  <a:txBody>
                    <a:bodyPr/>
                    <a:lstStyle/>
                    <a:p>
                      <a:r>
                        <a:rPr lang="en-US" dirty="0" smtClean="0"/>
                        <a:t>0.95</a:t>
                      </a:r>
                      <a:endParaRPr lang="ru-RU" dirty="0"/>
                    </a:p>
                  </a:txBody>
                  <a:tcPr/>
                </a:tc>
                <a:extLst>
                  <a:ext uri="{0D108BD9-81ED-4DB2-BD59-A6C34878D82A}">
                    <a16:rowId xmlns:a16="http://schemas.microsoft.com/office/drawing/2014/main" val="1192424765"/>
                  </a:ext>
                </a:extLst>
              </a:tr>
              <a:tr h="370840">
                <a:tc>
                  <a:txBody>
                    <a:bodyPr/>
                    <a:lstStyle/>
                    <a:p>
                      <a:r>
                        <a:rPr lang="en-US" dirty="0" smtClean="0"/>
                        <a:t>Precision</a:t>
                      </a:r>
                      <a:endParaRPr lang="ru-RU" dirty="0"/>
                    </a:p>
                  </a:txBody>
                  <a:tcPr/>
                </a:tc>
                <a:tc>
                  <a:txBody>
                    <a:bodyPr/>
                    <a:lstStyle/>
                    <a:p>
                      <a:r>
                        <a:rPr lang="en-US" dirty="0" smtClean="0"/>
                        <a:t>0.89</a:t>
                      </a:r>
                      <a:endParaRPr lang="ru-RU" dirty="0"/>
                    </a:p>
                  </a:txBody>
                  <a:tcPr/>
                </a:tc>
                <a:tc>
                  <a:txBody>
                    <a:bodyPr/>
                    <a:lstStyle/>
                    <a:p>
                      <a:r>
                        <a:rPr lang="en-US" dirty="0" smtClean="0"/>
                        <a:t>0.88</a:t>
                      </a:r>
                      <a:endParaRPr lang="ru-RU" dirty="0"/>
                    </a:p>
                  </a:txBody>
                  <a:tcPr/>
                </a:tc>
                <a:tc>
                  <a:txBody>
                    <a:bodyPr/>
                    <a:lstStyle/>
                    <a:p>
                      <a:r>
                        <a:rPr lang="en-US" dirty="0" smtClean="0"/>
                        <a:t>0.89</a:t>
                      </a:r>
                      <a:endParaRPr lang="ru-RU" dirty="0"/>
                    </a:p>
                  </a:txBody>
                  <a:tcPr/>
                </a:tc>
                <a:tc>
                  <a:txBody>
                    <a:bodyPr/>
                    <a:lstStyle/>
                    <a:p>
                      <a:r>
                        <a:rPr lang="en-US" dirty="0" smtClean="0"/>
                        <a:t>0.95</a:t>
                      </a:r>
                      <a:endParaRPr lang="ru-RU" dirty="0"/>
                    </a:p>
                  </a:txBody>
                  <a:tcPr/>
                </a:tc>
                <a:extLst>
                  <a:ext uri="{0D108BD9-81ED-4DB2-BD59-A6C34878D82A}">
                    <a16:rowId xmlns:a16="http://schemas.microsoft.com/office/drawing/2014/main" val="1666148064"/>
                  </a:ext>
                </a:extLst>
              </a:tr>
              <a:tr h="370840">
                <a:tc>
                  <a:txBody>
                    <a:bodyPr/>
                    <a:lstStyle/>
                    <a:p>
                      <a:r>
                        <a:rPr lang="en-US" dirty="0" smtClean="0"/>
                        <a:t>Recall</a:t>
                      </a:r>
                      <a:endParaRPr lang="ru-RU" dirty="0"/>
                    </a:p>
                  </a:txBody>
                  <a:tcPr/>
                </a:tc>
                <a:tc>
                  <a:txBody>
                    <a:bodyPr/>
                    <a:lstStyle/>
                    <a:p>
                      <a:r>
                        <a:rPr lang="en-US" dirty="0" smtClean="0"/>
                        <a:t>0.80</a:t>
                      </a:r>
                      <a:endParaRPr lang="ru-RU" dirty="0"/>
                    </a:p>
                  </a:txBody>
                  <a:tcPr/>
                </a:tc>
                <a:tc>
                  <a:txBody>
                    <a:bodyPr/>
                    <a:lstStyle/>
                    <a:p>
                      <a:r>
                        <a:rPr lang="en-US" dirty="0" smtClean="0"/>
                        <a:t>0.82</a:t>
                      </a:r>
                      <a:endParaRPr lang="ru-RU" dirty="0"/>
                    </a:p>
                  </a:txBody>
                  <a:tcPr/>
                </a:tc>
                <a:tc>
                  <a:txBody>
                    <a:bodyPr/>
                    <a:lstStyle/>
                    <a:p>
                      <a:r>
                        <a:rPr lang="en-US" dirty="0" smtClean="0"/>
                        <a:t>0.81</a:t>
                      </a:r>
                      <a:endParaRPr lang="ru-RU" dirty="0"/>
                    </a:p>
                  </a:txBody>
                  <a:tcPr/>
                </a:tc>
                <a:tc>
                  <a:txBody>
                    <a:bodyPr/>
                    <a:lstStyle/>
                    <a:p>
                      <a:r>
                        <a:rPr lang="en-US" dirty="0" smtClean="0"/>
                        <a:t>0.91</a:t>
                      </a:r>
                      <a:endParaRPr lang="ru-RU" dirty="0"/>
                    </a:p>
                  </a:txBody>
                  <a:tcPr/>
                </a:tc>
                <a:extLst>
                  <a:ext uri="{0D108BD9-81ED-4DB2-BD59-A6C34878D82A}">
                    <a16:rowId xmlns:a16="http://schemas.microsoft.com/office/drawing/2014/main" val="4087008333"/>
                  </a:ext>
                </a:extLst>
              </a:tr>
              <a:tr h="370840">
                <a:tc>
                  <a:txBody>
                    <a:bodyPr/>
                    <a:lstStyle/>
                    <a:p>
                      <a:r>
                        <a:rPr lang="en-US" dirty="0" smtClean="0"/>
                        <a:t>F1-score</a:t>
                      </a:r>
                      <a:endParaRPr lang="ru-RU" dirty="0"/>
                    </a:p>
                  </a:txBody>
                  <a:tcPr/>
                </a:tc>
                <a:tc>
                  <a:txBody>
                    <a:bodyPr/>
                    <a:lstStyle/>
                    <a:p>
                      <a:r>
                        <a:rPr lang="en-US" dirty="0" smtClean="0"/>
                        <a:t>0.84</a:t>
                      </a:r>
                      <a:endParaRPr lang="ru-RU" dirty="0"/>
                    </a:p>
                  </a:txBody>
                  <a:tcPr/>
                </a:tc>
                <a:tc>
                  <a:txBody>
                    <a:bodyPr/>
                    <a:lstStyle/>
                    <a:p>
                      <a:r>
                        <a:rPr lang="en-US" dirty="0" smtClean="0"/>
                        <a:t>0.85</a:t>
                      </a:r>
                      <a:endParaRPr lang="ru-RU" dirty="0"/>
                    </a:p>
                  </a:txBody>
                  <a:tcPr/>
                </a:tc>
                <a:tc>
                  <a:txBody>
                    <a:bodyPr/>
                    <a:lstStyle/>
                    <a:p>
                      <a:r>
                        <a:rPr lang="en-US" dirty="0" smtClean="0"/>
                        <a:t>0.85</a:t>
                      </a:r>
                      <a:endParaRPr lang="ru-RU" dirty="0"/>
                    </a:p>
                  </a:txBody>
                  <a:tcPr/>
                </a:tc>
                <a:tc>
                  <a:txBody>
                    <a:bodyPr/>
                    <a:lstStyle/>
                    <a:p>
                      <a:r>
                        <a:rPr lang="en-US" dirty="0" smtClean="0"/>
                        <a:t>0.93</a:t>
                      </a:r>
                      <a:endParaRPr lang="ru-RU" dirty="0"/>
                    </a:p>
                  </a:txBody>
                  <a:tcPr/>
                </a:tc>
                <a:extLst>
                  <a:ext uri="{0D108BD9-81ED-4DB2-BD59-A6C34878D82A}">
                    <a16:rowId xmlns:a16="http://schemas.microsoft.com/office/drawing/2014/main" val="311499442"/>
                  </a:ext>
                </a:extLst>
              </a:tr>
            </a:tbl>
          </a:graphicData>
        </a:graphic>
      </p:graphicFrame>
      <p:sp>
        <p:nvSpPr>
          <p:cNvPr id="6" name="TextBox 5"/>
          <p:cNvSpPr txBox="1"/>
          <p:nvPr/>
        </p:nvSpPr>
        <p:spPr>
          <a:xfrm>
            <a:off x="838200" y="1229158"/>
            <a:ext cx="5654964" cy="369332"/>
          </a:xfrm>
          <a:prstGeom prst="rect">
            <a:avLst/>
          </a:prstGeom>
          <a:noFill/>
        </p:spPr>
        <p:txBody>
          <a:bodyPr wrap="square" rtlCol="0">
            <a:spAutoFit/>
          </a:bodyPr>
          <a:lstStyle/>
          <a:p>
            <a:r>
              <a:rPr lang="en-US" dirty="0" smtClean="0"/>
              <a:t>For class 0</a:t>
            </a:r>
            <a:endParaRPr lang="ru-RU" dirty="0"/>
          </a:p>
        </p:txBody>
      </p:sp>
      <p:sp>
        <p:nvSpPr>
          <p:cNvPr id="7" name="TextBox 6"/>
          <p:cNvSpPr txBox="1"/>
          <p:nvPr/>
        </p:nvSpPr>
        <p:spPr>
          <a:xfrm>
            <a:off x="838200" y="3796145"/>
            <a:ext cx="3271982" cy="369332"/>
          </a:xfrm>
          <a:prstGeom prst="rect">
            <a:avLst/>
          </a:prstGeom>
          <a:noFill/>
        </p:spPr>
        <p:txBody>
          <a:bodyPr wrap="square" rtlCol="0">
            <a:spAutoFit/>
          </a:bodyPr>
          <a:lstStyle/>
          <a:p>
            <a:r>
              <a:rPr lang="en-US" dirty="0" smtClean="0"/>
              <a:t>For class 1</a:t>
            </a:r>
            <a:endParaRPr lang="ru-RU" dirty="0"/>
          </a:p>
        </p:txBody>
      </p:sp>
      <p:graphicFrame>
        <p:nvGraphicFramePr>
          <p:cNvPr id="10" name="Таблица 9"/>
          <p:cNvGraphicFramePr>
            <a:graphicFrameLocks noGrp="1"/>
          </p:cNvGraphicFramePr>
          <p:nvPr/>
        </p:nvGraphicFramePr>
        <p:xfrm>
          <a:off x="9033164" y="1810327"/>
          <a:ext cx="2318327" cy="1847273"/>
        </p:xfrm>
        <a:graphic>
          <a:graphicData uri="http://schemas.openxmlformats.org/drawingml/2006/table">
            <a:tbl>
              <a:tblPr/>
              <a:tblGrid>
                <a:gridCol w="2318327">
                  <a:extLst>
                    <a:ext uri="{9D8B030D-6E8A-4147-A177-3AD203B41FA5}">
                      <a16:colId xmlns:a16="http://schemas.microsoft.com/office/drawing/2014/main" val="2180329386"/>
                    </a:ext>
                  </a:extLst>
                </a:gridCol>
              </a:tblGrid>
              <a:tr h="1847273">
                <a:tc>
                  <a:txBody>
                    <a:bodyPr/>
                    <a:lstStyle/>
                    <a:p>
                      <a:endParaRPr lang="ru-RU" dirty="0"/>
                    </a:p>
                  </a:txBody>
                  <a:tcPr>
                    <a:lnL w="38100" cmpd="sng">
                      <a:solidFill>
                        <a:srgbClr val="FF0000"/>
                      </a:solidFill>
                      <a:prstDash val="solid"/>
                    </a:lnL>
                    <a:lnR w="38100" cmpd="sng">
                      <a:solidFill>
                        <a:srgbClr val="FF0000"/>
                      </a:solidFill>
                      <a:prstDash val="solid"/>
                    </a:lnR>
                    <a:lnT w="38100" cmpd="sng">
                      <a:solidFill>
                        <a:srgbClr val="FF0000"/>
                      </a:solidFill>
                      <a:prstDash val="solid"/>
                    </a:lnT>
                    <a:lnB w="38100" cmpd="sng">
                      <a:solidFill>
                        <a:srgbClr val="FF0000"/>
                      </a:solidFill>
                      <a:prstDash val="solid"/>
                    </a:lnB>
                  </a:tcPr>
                </a:tc>
                <a:extLst>
                  <a:ext uri="{0D108BD9-81ED-4DB2-BD59-A6C34878D82A}">
                    <a16:rowId xmlns:a16="http://schemas.microsoft.com/office/drawing/2014/main" val="2046021712"/>
                  </a:ext>
                </a:extLst>
              </a:tr>
            </a:tbl>
          </a:graphicData>
        </a:graphic>
      </p:graphicFrame>
      <p:graphicFrame>
        <p:nvGraphicFramePr>
          <p:cNvPr id="11" name="Таблица 10"/>
          <p:cNvGraphicFramePr>
            <a:graphicFrameLocks noGrp="1"/>
          </p:cNvGraphicFramePr>
          <p:nvPr/>
        </p:nvGraphicFramePr>
        <p:xfrm>
          <a:off x="9033164" y="4341091"/>
          <a:ext cx="2318327" cy="1856509"/>
        </p:xfrm>
        <a:graphic>
          <a:graphicData uri="http://schemas.openxmlformats.org/drawingml/2006/table">
            <a:tbl>
              <a:tblPr/>
              <a:tblGrid>
                <a:gridCol w="2318327">
                  <a:extLst>
                    <a:ext uri="{9D8B030D-6E8A-4147-A177-3AD203B41FA5}">
                      <a16:colId xmlns:a16="http://schemas.microsoft.com/office/drawing/2014/main" val="830873832"/>
                    </a:ext>
                  </a:extLst>
                </a:gridCol>
              </a:tblGrid>
              <a:tr h="1856509">
                <a:tc>
                  <a:txBody>
                    <a:bodyPr/>
                    <a:lstStyle/>
                    <a:p>
                      <a:endParaRPr lang="ru-RU" dirty="0"/>
                    </a:p>
                  </a:txBody>
                  <a:tcPr>
                    <a:lnL w="38100" cmpd="sng">
                      <a:solidFill>
                        <a:srgbClr val="FF0000"/>
                      </a:solidFill>
                      <a:prstDash val="solid"/>
                    </a:lnL>
                    <a:lnR w="38100" cmpd="sng">
                      <a:solidFill>
                        <a:srgbClr val="FF0000"/>
                      </a:solidFill>
                      <a:prstDash val="solid"/>
                    </a:lnR>
                    <a:lnT w="38100" cmpd="sng">
                      <a:solidFill>
                        <a:srgbClr val="FF0000"/>
                      </a:solidFill>
                      <a:prstDash val="solid"/>
                    </a:lnT>
                    <a:lnB w="38100" cmpd="sng">
                      <a:solidFill>
                        <a:srgbClr val="FF0000"/>
                      </a:solidFill>
                      <a:prstDash val="solid"/>
                    </a:lnB>
                  </a:tcPr>
                </a:tc>
                <a:extLst>
                  <a:ext uri="{0D108BD9-81ED-4DB2-BD59-A6C34878D82A}">
                    <a16:rowId xmlns:a16="http://schemas.microsoft.com/office/drawing/2014/main" val="1826288836"/>
                  </a:ext>
                </a:extLst>
              </a:tr>
            </a:tbl>
          </a:graphicData>
        </a:graphic>
      </p:graphicFrame>
    </p:spTree>
    <p:extLst>
      <p:ext uri="{BB962C8B-B14F-4D97-AF65-F5344CB8AC3E}">
        <p14:creationId xmlns:p14="http://schemas.microsoft.com/office/powerpoint/2010/main" val="3208357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Deploy (structure)</a:t>
            </a:r>
            <a:endParaRPr lang="ru-RU" dirty="0"/>
          </a:p>
        </p:txBody>
      </p:sp>
      <p:sp>
        <p:nvSpPr>
          <p:cNvPr id="3" name="Объект 2"/>
          <p:cNvSpPr>
            <a:spLocks noGrp="1"/>
          </p:cNvSpPr>
          <p:nvPr>
            <p:ph idx="1"/>
          </p:nvPr>
        </p:nvSpPr>
        <p:spPr>
          <a:xfrm>
            <a:off x="683491" y="1588655"/>
            <a:ext cx="6613235" cy="4588308"/>
          </a:xfrm>
        </p:spPr>
        <p:txBody>
          <a:bodyPr/>
          <a:lstStyle/>
          <a:p>
            <a:pPr marL="0" indent="0">
              <a:buNone/>
            </a:pPr>
            <a:r>
              <a:rPr lang="en-US" sz="2400" dirty="0" smtClean="0"/>
              <a:t>In my project I have the following structure:</a:t>
            </a:r>
          </a:p>
          <a:p>
            <a:pPr marL="0" indent="0">
              <a:buNone/>
            </a:pPr>
            <a:r>
              <a:rPr lang="en-US" sz="1800" dirty="0" smtClean="0"/>
              <a:t>Models/ -&gt; different saved </a:t>
            </a:r>
            <a:r>
              <a:rPr lang="en-US" sz="1800" i="1" dirty="0" smtClean="0"/>
              <a:t>models</a:t>
            </a:r>
            <a:r>
              <a:rPr lang="en-US" sz="1800" dirty="0" smtClean="0"/>
              <a:t> and </a:t>
            </a:r>
            <a:r>
              <a:rPr lang="en-US" sz="1800" i="1" dirty="0" smtClean="0"/>
              <a:t>pipe </a:t>
            </a:r>
            <a:r>
              <a:rPr lang="en-US" sz="1800" dirty="0" smtClean="0"/>
              <a:t>for imputing </a:t>
            </a:r>
          </a:p>
          <a:p>
            <a:pPr marL="0" indent="0">
              <a:buNone/>
            </a:pPr>
            <a:r>
              <a:rPr lang="en-US" sz="1800" dirty="0" smtClean="0"/>
              <a:t>Notebooks/ -&gt; saved workspaces with all the code and research</a:t>
            </a:r>
          </a:p>
          <a:p>
            <a:pPr marL="0" indent="0">
              <a:buNone/>
            </a:pPr>
            <a:r>
              <a:rPr lang="en-US" sz="1800" dirty="0" smtClean="0"/>
              <a:t>Pictures/ -&gt; saved pictures of results (only for </a:t>
            </a:r>
            <a:r>
              <a:rPr lang="en-US" sz="1800" dirty="0" err="1" smtClean="0"/>
              <a:t>Github</a:t>
            </a:r>
            <a:r>
              <a:rPr lang="en-US" sz="1800" dirty="0" smtClean="0"/>
              <a:t> repository)</a:t>
            </a:r>
            <a:endParaRPr lang="en-US" sz="1800" dirty="0"/>
          </a:p>
          <a:p>
            <a:pPr marL="0" indent="0">
              <a:buNone/>
            </a:pPr>
            <a:r>
              <a:rPr lang="en-US" sz="1800" dirty="0" err="1" smtClean="0"/>
              <a:t>Src</a:t>
            </a:r>
            <a:r>
              <a:rPr lang="en-US" sz="1800" dirty="0"/>
              <a:t>/</a:t>
            </a:r>
            <a:r>
              <a:rPr lang="en-US" sz="1800" dirty="0" smtClean="0"/>
              <a:t> -&gt; main files that depend on each other</a:t>
            </a:r>
          </a:p>
          <a:p>
            <a:pPr marL="0" indent="0">
              <a:buNone/>
            </a:pPr>
            <a:r>
              <a:rPr lang="en-US" sz="1800" dirty="0" smtClean="0"/>
              <a:t>     ml.py -&gt; import saved model and pipeline and does all ML process</a:t>
            </a:r>
          </a:p>
          <a:p>
            <a:pPr marL="0" indent="0">
              <a:buNone/>
            </a:pPr>
            <a:r>
              <a:rPr lang="en-US" sz="1800" dirty="0"/>
              <a:t> </a:t>
            </a:r>
            <a:r>
              <a:rPr lang="en-US" sz="1800" dirty="0" smtClean="0"/>
              <a:t>    batch.py -&gt; parsing data and creating output</a:t>
            </a:r>
          </a:p>
          <a:p>
            <a:pPr marL="0" indent="0">
              <a:buNone/>
            </a:pPr>
            <a:r>
              <a:rPr lang="en-US" sz="1800" dirty="0"/>
              <a:t> </a:t>
            </a:r>
            <a:r>
              <a:rPr lang="en-US" sz="1800" dirty="0" smtClean="0"/>
              <a:t>    stream_app.py -&gt; web interface using </a:t>
            </a:r>
            <a:r>
              <a:rPr lang="en-US" sz="1800" dirty="0" err="1" smtClean="0"/>
              <a:t>streamlit</a:t>
            </a:r>
            <a:endParaRPr lang="en-US" sz="1800" dirty="0" smtClean="0"/>
          </a:p>
          <a:p>
            <a:pPr marL="0" indent="0">
              <a:buNone/>
            </a:pPr>
            <a:r>
              <a:rPr lang="en-US" sz="1800" dirty="0" smtClean="0"/>
              <a:t>     predictions.csv -&gt; saved data from users for future constant 	    		learning and improvement of model</a:t>
            </a:r>
          </a:p>
          <a:p>
            <a:pPr marL="0" indent="0">
              <a:buNone/>
            </a:pPr>
            <a:r>
              <a:rPr lang="en-US" sz="1800" dirty="0"/>
              <a:t> </a:t>
            </a:r>
            <a:r>
              <a:rPr lang="en-US" sz="1800" dirty="0" smtClean="0"/>
              <a:t>    README.md -&gt; file with descriptions (for GitHub)</a:t>
            </a:r>
            <a:endParaRPr lang="ru-RU" sz="1800" dirty="0"/>
          </a:p>
        </p:txBody>
      </p:sp>
      <p:pic>
        <p:nvPicPr>
          <p:cNvPr id="4" name="Рисунок 3"/>
          <p:cNvPicPr>
            <a:picLocks noChangeAspect="1"/>
          </p:cNvPicPr>
          <p:nvPr/>
        </p:nvPicPr>
        <p:blipFill>
          <a:blip r:embed="rId2"/>
          <a:stretch>
            <a:fillRect/>
          </a:stretch>
        </p:blipFill>
        <p:spPr>
          <a:xfrm>
            <a:off x="7215781" y="683489"/>
            <a:ext cx="4138019" cy="5380186"/>
          </a:xfrm>
          <a:prstGeom prst="rect">
            <a:avLst/>
          </a:prstGeom>
        </p:spPr>
      </p:pic>
    </p:spTree>
    <p:extLst>
      <p:ext uri="{BB962C8B-B14F-4D97-AF65-F5344CB8AC3E}">
        <p14:creationId xmlns:p14="http://schemas.microsoft.com/office/powerpoint/2010/main" val="2081256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28181"/>
            <a:ext cx="10515600" cy="974148"/>
          </a:xfrm>
        </p:spPr>
        <p:txBody>
          <a:bodyPr/>
          <a:lstStyle/>
          <a:p>
            <a:r>
              <a:rPr lang="en-US" dirty="0" smtClean="0"/>
              <a:t>Final result (Diffusion + </a:t>
            </a:r>
            <a:r>
              <a:rPr lang="en-US" dirty="0" err="1" smtClean="0"/>
              <a:t>XGBoost</a:t>
            </a:r>
            <a:r>
              <a:rPr lang="en-US" dirty="0" smtClean="0"/>
              <a:t>)</a:t>
            </a:r>
            <a:endParaRPr lang="ru-RU" dirty="0"/>
          </a:p>
        </p:txBody>
      </p:sp>
      <p:pic>
        <p:nvPicPr>
          <p:cNvPr id="4" name="Объект 3"/>
          <p:cNvPicPr>
            <a:picLocks noGrp="1" noChangeAspect="1"/>
          </p:cNvPicPr>
          <p:nvPr>
            <p:ph idx="1"/>
          </p:nvPr>
        </p:nvPicPr>
        <p:blipFill rotWithShape="1">
          <a:blip r:embed="rId2">
            <a:extLst>
              <a:ext uri="{28A0092B-C50C-407E-A947-70E740481C1C}">
                <a14:useLocalDpi xmlns:a14="http://schemas.microsoft.com/office/drawing/2010/main" val="0"/>
              </a:ext>
            </a:extLst>
          </a:blip>
          <a:srcRect l="3623" t="2363" r="6647"/>
          <a:stretch/>
        </p:blipFill>
        <p:spPr>
          <a:xfrm>
            <a:off x="720435" y="2137930"/>
            <a:ext cx="4000405" cy="3904095"/>
          </a:xfrm>
        </p:spPr>
      </p:pic>
      <p:pic>
        <p:nvPicPr>
          <p:cNvPr id="5" name="Рисунок 4"/>
          <p:cNvPicPr>
            <a:picLocks noChangeAspect="1"/>
          </p:cNvPicPr>
          <p:nvPr/>
        </p:nvPicPr>
        <p:blipFill rotWithShape="1">
          <a:blip r:embed="rId3">
            <a:extLst>
              <a:ext uri="{28A0092B-C50C-407E-A947-70E740481C1C}">
                <a14:useLocalDpi xmlns:a14="http://schemas.microsoft.com/office/drawing/2010/main" val="0"/>
              </a:ext>
            </a:extLst>
          </a:blip>
          <a:srcRect l="1534" t="1845" r="5827" b="7982"/>
          <a:stretch/>
        </p:blipFill>
        <p:spPr>
          <a:xfrm>
            <a:off x="4720841" y="2137930"/>
            <a:ext cx="3565237" cy="3851565"/>
          </a:xfrm>
          <a:prstGeom prst="rect">
            <a:avLst/>
          </a:prstGeom>
        </p:spPr>
      </p:pic>
      <p:pic>
        <p:nvPicPr>
          <p:cNvPr id="6" name="Рисунок 5"/>
          <p:cNvPicPr>
            <a:picLocks noChangeAspect="1"/>
          </p:cNvPicPr>
          <p:nvPr/>
        </p:nvPicPr>
        <p:blipFill>
          <a:blip r:embed="rId4"/>
          <a:stretch>
            <a:fillRect/>
          </a:stretch>
        </p:blipFill>
        <p:spPr>
          <a:xfrm>
            <a:off x="8286078" y="2475344"/>
            <a:ext cx="3599620" cy="2248095"/>
          </a:xfrm>
          <a:prstGeom prst="rect">
            <a:avLst/>
          </a:prstGeom>
        </p:spPr>
      </p:pic>
      <p:sp>
        <p:nvSpPr>
          <p:cNvPr id="7" name="TextBox 6"/>
          <p:cNvSpPr txBox="1"/>
          <p:nvPr/>
        </p:nvSpPr>
        <p:spPr>
          <a:xfrm>
            <a:off x="8241399" y="4698086"/>
            <a:ext cx="3350237" cy="1877437"/>
          </a:xfrm>
          <a:prstGeom prst="rect">
            <a:avLst/>
          </a:prstGeom>
          <a:noFill/>
        </p:spPr>
        <p:txBody>
          <a:bodyPr wrap="square" rtlCol="0">
            <a:spAutoFit/>
          </a:bodyPr>
          <a:lstStyle/>
          <a:p>
            <a:r>
              <a:rPr lang="en-US" sz="1400" dirty="0" smtClean="0"/>
              <a:t>Advantages:</a:t>
            </a:r>
          </a:p>
          <a:p>
            <a:pPr marL="285750" indent="-285750">
              <a:buFont typeface="Arial" panose="020B0604020202020204" pitchFamily="34" charset="0"/>
              <a:buChar char="•"/>
            </a:pPr>
            <a:r>
              <a:rPr lang="en-US" sz="1400" dirty="0" smtClean="0"/>
              <a:t>Easy realization</a:t>
            </a:r>
          </a:p>
          <a:p>
            <a:endParaRPr lang="en-US" sz="1400" dirty="0" smtClean="0"/>
          </a:p>
          <a:p>
            <a:r>
              <a:rPr lang="en-US" sz="1400" dirty="0" smtClean="0"/>
              <a:t>Disadvantages:</a:t>
            </a:r>
          </a:p>
          <a:p>
            <a:pPr marL="285750" indent="-285750">
              <a:buFont typeface="Arial" panose="020B0604020202020204" pitchFamily="34" charset="0"/>
              <a:buChar char="•"/>
            </a:pPr>
            <a:r>
              <a:rPr lang="en-US" sz="1400" dirty="0" smtClean="0"/>
              <a:t>Difficult for scaling</a:t>
            </a:r>
          </a:p>
          <a:p>
            <a:pPr marL="285750" indent="-285750">
              <a:buFont typeface="Arial" panose="020B0604020202020204" pitchFamily="34" charset="0"/>
              <a:buChar char="•"/>
            </a:pPr>
            <a:r>
              <a:rPr lang="en-US" sz="1400" dirty="0" smtClean="0"/>
              <a:t>Not </a:t>
            </a:r>
            <a:r>
              <a:rPr lang="en-US" sz="1400" dirty="0"/>
              <a:t>well suited for tasks requiring long calculations</a:t>
            </a:r>
            <a:endParaRPr lang="en-US" sz="1400" dirty="0" smtClean="0"/>
          </a:p>
          <a:p>
            <a:endParaRPr lang="ru-RU" dirty="0"/>
          </a:p>
        </p:txBody>
      </p:sp>
      <p:sp>
        <p:nvSpPr>
          <p:cNvPr id="8" name="TextBox 7"/>
          <p:cNvSpPr txBox="1"/>
          <p:nvPr/>
        </p:nvSpPr>
        <p:spPr>
          <a:xfrm>
            <a:off x="838200" y="1163782"/>
            <a:ext cx="7243618" cy="1200329"/>
          </a:xfrm>
          <a:prstGeom prst="rect">
            <a:avLst/>
          </a:prstGeom>
          <a:noFill/>
        </p:spPr>
        <p:txBody>
          <a:bodyPr wrap="square" rtlCol="0">
            <a:spAutoFit/>
          </a:bodyPr>
          <a:lstStyle/>
          <a:p>
            <a:r>
              <a:rPr lang="en-US" dirty="0" smtClean="0"/>
              <a:t>precision</a:t>
            </a:r>
            <a:r>
              <a:rPr lang="en-US" dirty="0"/>
              <a:t>: 0.89 -&gt; </a:t>
            </a:r>
            <a:r>
              <a:rPr lang="en-US" dirty="0" smtClean="0"/>
              <a:t>0.95</a:t>
            </a:r>
          </a:p>
          <a:p>
            <a:r>
              <a:rPr lang="en-US" dirty="0" smtClean="0"/>
              <a:t>recall</a:t>
            </a:r>
            <a:r>
              <a:rPr lang="en-US" dirty="0"/>
              <a:t>: 0.8 -&gt; </a:t>
            </a:r>
            <a:r>
              <a:rPr lang="en-US" dirty="0" smtClean="0"/>
              <a:t>0.91</a:t>
            </a:r>
          </a:p>
          <a:p>
            <a:r>
              <a:rPr lang="en-US" dirty="0" smtClean="0"/>
              <a:t>f1-score</a:t>
            </a:r>
            <a:r>
              <a:rPr lang="en-US" dirty="0"/>
              <a:t>: 0.84 -&gt; 0.93</a:t>
            </a:r>
            <a:endParaRPr lang="ru-RU" dirty="0"/>
          </a:p>
          <a:p>
            <a:endParaRPr lang="ru-RU" dirty="0"/>
          </a:p>
        </p:txBody>
      </p:sp>
    </p:spTree>
    <p:extLst>
      <p:ext uri="{BB962C8B-B14F-4D97-AF65-F5344CB8AC3E}">
        <p14:creationId xmlns:p14="http://schemas.microsoft.com/office/powerpoint/2010/main" val="1511578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07738" y="1750580"/>
            <a:ext cx="10515600" cy="1325563"/>
          </a:xfrm>
        </p:spPr>
        <p:txBody>
          <a:bodyPr/>
          <a:lstStyle/>
          <a:p>
            <a:pPr algn="ctr"/>
            <a:r>
              <a:rPr lang="en-US" dirty="0" smtClean="0"/>
              <a:t>The End</a:t>
            </a:r>
            <a:endParaRPr lang="ru-RU" dirty="0"/>
          </a:p>
        </p:txBody>
      </p:sp>
      <p:sp>
        <p:nvSpPr>
          <p:cNvPr id="3" name="Объект 2"/>
          <p:cNvSpPr>
            <a:spLocks noGrp="1"/>
          </p:cNvSpPr>
          <p:nvPr>
            <p:ph idx="1"/>
          </p:nvPr>
        </p:nvSpPr>
        <p:spPr>
          <a:xfrm>
            <a:off x="3258129" y="3284971"/>
            <a:ext cx="5414818" cy="677430"/>
          </a:xfrm>
        </p:spPr>
        <p:txBody>
          <a:bodyPr/>
          <a:lstStyle/>
          <a:p>
            <a:pPr marL="0" indent="0" algn="ctr">
              <a:buNone/>
            </a:pPr>
            <a:r>
              <a:rPr lang="en-US" dirty="0" smtClean="0"/>
              <a:t>Thank you for the attention!</a:t>
            </a:r>
            <a:endParaRPr lang="ru-RU" dirty="0"/>
          </a:p>
        </p:txBody>
      </p:sp>
    </p:spTree>
    <p:extLst>
      <p:ext uri="{BB962C8B-B14F-4D97-AF65-F5344CB8AC3E}">
        <p14:creationId xmlns:p14="http://schemas.microsoft.com/office/powerpoint/2010/main" val="7867227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dirty="0" smtClean="0"/>
              <a:t>References</a:t>
            </a:r>
            <a:endParaRPr lang="ru-RU" dirty="0"/>
          </a:p>
        </p:txBody>
      </p:sp>
      <p:sp>
        <p:nvSpPr>
          <p:cNvPr id="3" name="Объект 2"/>
          <p:cNvSpPr>
            <a:spLocks noGrp="1"/>
          </p:cNvSpPr>
          <p:nvPr>
            <p:ph idx="1"/>
          </p:nvPr>
        </p:nvSpPr>
        <p:spPr>
          <a:xfrm>
            <a:off x="838200" y="1825625"/>
            <a:ext cx="10753436" cy="4351338"/>
          </a:xfrm>
        </p:spPr>
        <p:txBody>
          <a:bodyPr>
            <a:normAutofit fontScale="92500"/>
          </a:bodyPr>
          <a:lstStyle/>
          <a:p>
            <a:r>
              <a:rPr lang="en-US" sz="2000" dirty="0">
                <a:hlinkClick r:id="rId2"/>
              </a:rPr>
              <a:t>https://habr.com/ru/articles/962176</a:t>
            </a:r>
            <a:r>
              <a:rPr lang="en-US" sz="2000" dirty="0" smtClean="0">
                <a:hlinkClick r:id="rId2"/>
              </a:rPr>
              <a:t>/</a:t>
            </a:r>
            <a:r>
              <a:rPr lang="en-US" sz="2000" dirty="0" smtClean="0"/>
              <a:t> [1]</a:t>
            </a:r>
          </a:p>
          <a:p>
            <a:r>
              <a:rPr lang="en-US" sz="2000" dirty="0">
                <a:hlinkClick r:id="rId3"/>
              </a:rPr>
              <a:t>https://blog.deepschool.ru/cv/vvedenie-v-diffuzionnye-modeli</a:t>
            </a:r>
            <a:r>
              <a:rPr lang="en-US" sz="2000" dirty="0" smtClean="0">
                <a:hlinkClick r:id="rId3"/>
              </a:rPr>
              <a:t>/</a:t>
            </a:r>
            <a:r>
              <a:rPr lang="en-US" sz="2000" dirty="0" smtClean="0"/>
              <a:t> [2]</a:t>
            </a:r>
          </a:p>
          <a:p>
            <a:r>
              <a:rPr lang="en-US" sz="2000" dirty="0">
                <a:hlinkClick r:id="rId4"/>
              </a:rPr>
              <a:t>https://education.yandex.ru/handbook/ml/article/variational-autoencoder-(vae</a:t>
            </a:r>
            <a:r>
              <a:rPr lang="en-US" sz="2000" dirty="0" smtClean="0">
                <a:hlinkClick r:id="rId4"/>
              </a:rPr>
              <a:t>)</a:t>
            </a:r>
            <a:r>
              <a:rPr lang="en-US" sz="2000" dirty="0" smtClean="0"/>
              <a:t> [3]</a:t>
            </a:r>
          </a:p>
          <a:p>
            <a:r>
              <a:rPr lang="en-US" sz="2000" dirty="0">
                <a:hlinkClick r:id="rId5"/>
              </a:rPr>
              <a:t>https://education.yandex.ru/handbook/ml/article/generativno-sostyazatelnye-seti-(gan</a:t>
            </a:r>
            <a:r>
              <a:rPr lang="en-US" sz="2000" dirty="0" smtClean="0">
                <a:hlinkClick r:id="rId5"/>
              </a:rPr>
              <a:t>)</a:t>
            </a:r>
            <a:r>
              <a:rPr lang="en-US" sz="2000" dirty="0" smtClean="0"/>
              <a:t> [4]</a:t>
            </a:r>
          </a:p>
          <a:p>
            <a:r>
              <a:rPr lang="en-US" sz="2000" dirty="0">
                <a:hlinkClick r:id="rId6"/>
              </a:rPr>
              <a:t>https://</a:t>
            </a:r>
            <a:r>
              <a:rPr lang="en-US" sz="2000" dirty="0" smtClean="0">
                <a:hlinkClick r:id="rId6"/>
              </a:rPr>
              <a:t>education.yandex.ru/handbook/ml/article/diffuzionnye-modeli</a:t>
            </a:r>
            <a:r>
              <a:rPr lang="en-US" sz="2000" dirty="0" smtClean="0"/>
              <a:t> [5]</a:t>
            </a:r>
          </a:p>
          <a:p>
            <a:r>
              <a:rPr lang="en-US" sz="2000" dirty="0" smtClean="0">
                <a:hlinkClick r:id="rId7"/>
              </a:rPr>
              <a:t>https</a:t>
            </a:r>
            <a:r>
              <a:rPr lang="en-US" sz="2000" dirty="0">
                <a:hlinkClick r:id="rId7"/>
              </a:rPr>
              <a:t>://</a:t>
            </a:r>
            <a:r>
              <a:rPr lang="en-US" sz="2000" dirty="0" smtClean="0">
                <a:hlinkClick r:id="rId7"/>
              </a:rPr>
              <a:t>medium.com/data-science/building-a-one-hot-encoding-layer-with-tensorflow-f907d686bf39</a:t>
            </a:r>
            <a:r>
              <a:rPr lang="en-US" sz="2000" dirty="0" smtClean="0"/>
              <a:t> [6]</a:t>
            </a:r>
          </a:p>
          <a:p>
            <a:r>
              <a:rPr lang="en-US" sz="2000" dirty="0">
                <a:hlinkClick r:id="rId8"/>
              </a:rPr>
              <a:t>https://www.analyticsvidhya.com/blog/2021/10/an-introduction-to-random-forest-algorithm-for-beginners</a:t>
            </a:r>
            <a:r>
              <a:rPr lang="en-US" sz="2000" dirty="0" smtClean="0">
                <a:hlinkClick r:id="rId8"/>
              </a:rPr>
              <a:t>/</a:t>
            </a:r>
            <a:r>
              <a:rPr lang="en-US" sz="2000" dirty="0" smtClean="0"/>
              <a:t> [7]</a:t>
            </a:r>
          </a:p>
          <a:p>
            <a:r>
              <a:rPr lang="en-US" sz="2000" dirty="0">
                <a:hlinkClick r:id="rId9"/>
              </a:rPr>
              <a:t>https://www.geeksforgeeks.org/machine-learning/smote-for-imbalanced-classification-with-python</a:t>
            </a:r>
            <a:r>
              <a:rPr lang="en-US" sz="2000" dirty="0" smtClean="0">
                <a:hlinkClick r:id="rId9"/>
              </a:rPr>
              <a:t>/</a:t>
            </a:r>
            <a:r>
              <a:rPr lang="en-US" sz="2000" dirty="0" smtClean="0"/>
              <a:t> [8]</a:t>
            </a:r>
          </a:p>
          <a:p>
            <a:r>
              <a:rPr lang="en-US" sz="2000" dirty="0">
                <a:hlinkClick r:id="rId10"/>
              </a:rPr>
              <a:t>https://habr.com/ru/articles/545380</a:t>
            </a:r>
            <a:r>
              <a:rPr lang="en-US" sz="2000" dirty="0" smtClean="0">
                <a:hlinkClick r:id="rId10"/>
              </a:rPr>
              <a:t>/</a:t>
            </a:r>
            <a:r>
              <a:rPr lang="en-US" sz="2000" dirty="0" smtClean="0"/>
              <a:t> [9]</a:t>
            </a:r>
          </a:p>
          <a:p>
            <a:r>
              <a:rPr lang="en-US" sz="2000" dirty="0">
                <a:hlinkClick r:id="rId11"/>
              </a:rPr>
              <a:t>https://www.geeksforgeeks.org/machine-learning/stacking-in-machine-learning</a:t>
            </a:r>
            <a:r>
              <a:rPr lang="en-US" sz="2000" dirty="0" smtClean="0">
                <a:hlinkClick r:id="rId11"/>
              </a:rPr>
              <a:t>/</a:t>
            </a:r>
            <a:r>
              <a:rPr lang="en-US" sz="2000" dirty="0" smtClean="0"/>
              <a:t> [10]</a:t>
            </a:r>
          </a:p>
          <a:p>
            <a:endParaRPr lang="en-US" sz="2000" dirty="0" smtClean="0"/>
          </a:p>
          <a:p>
            <a:endParaRPr lang="en-US" sz="2000" dirty="0"/>
          </a:p>
          <a:p>
            <a:endParaRPr lang="ru-RU" sz="2000" dirty="0"/>
          </a:p>
        </p:txBody>
      </p:sp>
    </p:spTree>
    <p:extLst>
      <p:ext uri="{BB962C8B-B14F-4D97-AF65-F5344CB8AC3E}">
        <p14:creationId xmlns:p14="http://schemas.microsoft.com/office/powerpoint/2010/main" val="160892143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4449</TotalTime>
  <Words>1790</Words>
  <Application>Microsoft Office PowerPoint</Application>
  <PresentationFormat>Широкоэкранный</PresentationFormat>
  <Paragraphs>322</Paragraphs>
  <Slides>28</Slides>
  <Notes>1</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28</vt:i4>
      </vt:variant>
    </vt:vector>
  </HeadingPairs>
  <TitlesOfParts>
    <vt:vector size="32" baseType="lpstr">
      <vt:lpstr>Arial</vt:lpstr>
      <vt:lpstr>Calibri</vt:lpstr>
      <vt:lpstr>Calibri Light</vt:lpstr>
      <vt:lpstr>Тема Office</vt:lpstr>
      <vt:lpstr>Credit Scoring</vt:lpstr>
      <vt:lpstr>Introduction</vt:lpstr>
      <vt:lpstr>Work plan</vt:lpstr>
      <vt:lpstr>Downloading dataset</vt:lpstr>
      <vt:lpstr>EDA (part 1)</vt:lpstr>
      <vt:lpstr>EDA (part 2) There I plot two graphs – scatter plots of most correlated features</vt:lpstr>
      <vt:lpstr>ML (part 1)</vt:lpstr>
      <vt:lpstr>ML (part 2)</vt:lpstr>
      <vt:lpstr>ML (part 3)</vt:lpstr>
      <vt:lpstr>ML (additional)</vt:lpstr>
      <vt:lpstr>Balanced class weights</vt:lpstr>
      <vt:lpstr>Oversampling</vt:lpstr>
      <vt:lpstr>Classification border tuning</vt:lpstr>
      <vt:lpstr>Target encoding</vt:lpstr>
      <vt:lpstr>Stacking + Optuna</vt:lpstr>
      <vt:lpstr>Stacking + Optuna (continue) Output result that turned out to be the best</vt:lpstr>
      <vt:lpstr>Deep Learning</vt:lpstr>
      <vt:lpstr>GAN (theory)</vt:lpstr>
      <vt:lpstr>GAN (realization)</vt:lpstr>
      <vt:lpstr>VAE (theory)</vt:lpstr>
      <vt:lpstr>VAE (realization) </vt:lpstr>
      <vt:lpstr>Diffusion (theory)</vt:lpstr>
      <vt:lpstr>Diffusion (realization)</vt:lpstr>
      <vt:lpstr>Comparing Neural Networks</vt:lpstr>
      <vt:lpstr>Deploy (structure)</vt:lpstr>
      <vt:lpstr>Final result (Diffusion + XGBoost)</vt:lpstr>
      <vt:lpstr>The End</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Scoring</dc:title>
  <dc:creator>Александр</dc:creator>
  <cp:lastModifiedBy>Александр</cp:lastModifiedBy>
  <cp:revision>92</cp:revision>
  <dcterms:created xsi:type="dcterms:W3CDTF">2025-12-02T06:35:19Z</dcterms:created>
  <dcterms:modified xsi:type="dcterms:W3CDTF">2025-12-10T05:46:53Z</dcterms:modified>
</cp:coreProperties>
</file>